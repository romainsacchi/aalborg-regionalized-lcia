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</p:sldIdLst>
  <p:sldSz cx="9906000" cy="6858000" type="A4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45" autoAdjust="0"/>
    <p:restoredTop sz="96807" autoAdjust="0"/>
  </p:normalViewPr>
  <p:slideViewPr>
    <p:cSldViewPr snapToGrid="0">
      <p:cViewPr varScale="1">
        <p:scale>
          <a:sx n="119" d="100"/>
          <a:sy n="119" d="100"/>
        </p:scale>
        <p:origin x="16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2FD4-96B0-4357-A0DF-E830D45E0C65}" type="datetimeFigureOut">
              <a:rPr lang="de-CH" smtClean="0"/>
              <a:t>18.09.2026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8AD6-47B7-4B1A-9583-770BEFB12DF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82485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2FD4-96B0-4357-A0DF-E830D45E0C65}" type="datetimeFigureOut">
              <a:rPr lang="de-CH" smtClean="0"/>
              <a:t>18.09.2026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8AD6-47B7-4B1A-9583-770BEFB12DF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00726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2FD4-96B0-4357-A0DF-E830D45E0C65}" type="datetimeFigureOut">
              <a:rPr lang="de-CH" smtClean="0"/>
              <a:t>18.09.2026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8AD6-47B7-4B1A-9583-770BEFB12DF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62793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2FD4-96B0-4357-A0DF-E830D45E0C65}" type="datetimeFigureOut">
              <a:rPr lang="de-CH" smtClean="0"/>
              <a:t>18.09.2026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8AD6-47B7-4B1A-9583-770BEFB12DF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35221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2FD4-96B0-4357-A0DF-E830D45E0C65}" type="datetimeFigureOut">
              <a:rPr lang="de-CH" smtClean="0"/>
              <a:t>18.09.2026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8AD6-47B7-4B1A-9583-770BEFB12DF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85291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2FD4-96B0-4357-A0DF-E830D45E0C65}" type="datetimeFigureOut">
              <a:rPr lang="de-CH" smtClean="0"/>
              <a:t>18.09.2026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8AD6-47B7-4B1A-9583-770BEFB12DF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21287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2FD4-96B0-4357-A0DF-E830D45E0C65}" type="datetimeFigureOut">
              <a:rPr lang="de-CH" smtClean="0"/>
              <a:t>18.09.2026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8AD6-47B7-4B1A-9583-770BEFB12DF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35493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2FD4-96B0-4357-A0DF-E830D45E0C65}" type="datetimeFigureOut">
              <a:rPr lang="de-CH" smtClean="0"/>
              <a:t>18.09.2026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8AD6-47B7-4B1A-9583-770BEFB12DF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30271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2FD4-96B0-4357-A0DF-E830D45E0C65}" type="datetimeFigureOut">
              <a:rPr lang="de-CH" smtClean="0"/>
              <a:t>18.09.2026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8AD6-47B7-4B1A-9583-770BEFB12DF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05156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2FD4-96B0-4357-A0DF-E830D45E0C65}" type="datetimeFigureOut">
              <a:rPr lang="de-CH" smtClean="0"/>
              <a:t>18.09.2026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8AD6-47B7-4B1A-9583-770BEFB12DF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1351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2FD4-96B0-4357-A0DF-E830D45E0C65}" type="datetimeFigureOut">
              <a:rPr lang="de-CH" smtClean="0"/>
              <a:t>18.09.2026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8AD6-47B7-4B1A-9583-770BEFB12DF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3953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D2FD4-96B0-4357-A0DF-E830D45E0C65}" type="datetimeFigureOut">
              <a:rPr lang="de-CH" smtClean="0"/>
              <a:t>18.09.2026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E8AD6-47B7-4B1A-9583-770BEFB12DF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3733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misedash-6f5a0259c487.herokuapp.com/ecosystem/" TargetMode="External"/><Relationship Id="rId7" Type="http://schemas.openxmlformats.org/officeDocument/2006/relationships/hyperlink" Target="mailto:karin.treyer@psi.ch" TargetMode="External"/><Relationship Id="rId2" Type="http://schemas.openxmlformats.org/officeDocument/2006/relationships/hyperlink" Target="https://stackoverflow.com/questions/tagged/brightway%20/%20brightway.groups.i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ca-activitybrowser.github.io/activity-browser/beta.html" TargetMode="External"/><Relationship Id="rId5" Type="http://schemas.openxmlformats.org/officeDocument/2006/relationships/hyperlink" Target="https://github.com/cyrillefrancois/openlca2bw" TargetMode="External"/><Relationship Id="rId4" Type="http://schemas.openxmlformats.org/officeDocument/2006/relationships/hyperlink" Target="https://gist.github.com/cmutel/963905e16bedbeffb40d2df005d0e7ae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F74E91-BE3D-703A-604D-C9F68871B96E}"/>
              </a:ext>
            </a:extLst>
          </p:cNvPr>
          <p:cNvSpPr txBox="1"/>
          <p:nvPr/>
        </p:nvSpPr>
        <p:spPr>
          <a:xfrm>
            <a:off x="268134" y="227267"/>
            <a:ext cx="2893606" cy="78880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463" b="1" dirty="0" err="1"/>
              <a:t>Brightway</a:t>
            </a:r>
            <a:r>
              <a:rPr lang="de-CH" sz="1463" b="1" dirty="0"/>
              <a:t> </a:t>
            </a:r>
            <a:r>
              <a:rPr lang="de-CH" sz="1463" b="1" dirty="0" err="1"/>
              <a:t>version</a:t>
            </a:r>
            <a:r>
              <a:rPr lang="de-CH" sz="1463" b="1" dirty="0"/>
              <a:t> 2.5 </a:t>
            </a:r>
            <a:r>
              <a:rPr lang="de-CH" sz="1463" b="1" dirty="0" err="1"/>
              <a:t>Cheatsheet</a:t>
            </a:r>
            <a:r>
              <a:rPr lang="de-CH" sz="1463" b="1" dirty="0"/>
              <a:t> </a:t>
            </a:r>
            <a:r>
              <a:rPr lang="de-CH" sz="1463" b="1" dirty="0" err="1"/>
              <a:t>for</a:t>
            </a:r>
            <a:r>
              <a:rPr lang="de-CH" sz="1463" b="1" dirty="0"/>
              <a:t> Beginners</a:t>
            </a:r>
            <a:endParaRPr lang="de-CH" sz="1463" dirty="0"/>
          </a:p>
          <a:p>
            <a:r>
              <a:rPr lang="de-CH" sz="800" dirty="0" err="1"/>
              <a:t>Numbering</a:t>
            </a:r>
            <a:r>
              <a:rPr lang="de-CH" sz="800" dirty="0"/>
              <a:t> = </a:t>
            </a:r>
            <a:r>
              <a:rPr lang="de-CH" sz="800" dirty="0" err="1"/>
              <a:t>consecutive</a:t>
            </a:r>
            <a:r>
              <a:rPr lang="de-CH" sz="800" dirty="0"/>
              <a:t> </a:t>
            </a:r>
            <a:r>
              <a:rPr lang="de-CH" sz="800" dirty="0" err="1"/>
              <a:t>actions</a:t>
            </a:r>
            <a:endParaRPr lang="de-CH" sz="800" dirty="0"/>
          </a:p>
          <a:p>
            <a:r>
              <a:rPr lang="de-CH" sz="800" dirty="0"/>
              <a:t>a., b., = different </a:t>
            </a:r>
            <a:r>
              <a:rPr lang="de-CH" sz="800" dirty="0" err="1"/>
              <a:t>ways</a:t>
            </a:r>
            <a:r>
              <a:rPr lang="de-CH" sz="800" dirty="0"/>
              <a:t> </a:t>
            </a:r>
            <a:r>
              <a:rPr lang="de-CH" sz="800" dirty="0" err="1"/>
              <a:t>of</a:t>
            </a:r>
            <a:r>
              <a:rPr lang="de-CH" sz="800" dirty="0"/>
              <a:t> </a:t>
            </a:r>
            <a:r>
              <a:rPr lang="de-CH" sz="800" dirty="0" err="1"/>
              <a:t>how</a:t>
            </a:r>
            <a:r>
              <a:rPr lang="de-CH" sz="800" dirty="0"/>
              <a:t> </a:t>
            </a:r>
            <a:r>
              <a:rPr lang="de-CH" sz="800" dirty="0" err="1"/>
              <a:t>to</a:t>
            </a:r>
            <a:r>
              <a:rPr lang="de-CH" sz="800" dirty="0"/>
              <a:t> do </a:t>
            </a:r>
            <a:r>
              <a:rPr lang="de-CH" sz="800" dirty="0" err="1"/>
              <a:t>this</a:t>
            </a:r>
            <a:endParaRPr lang="de-CH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21D9BB-D909-2131-35B6-DC8767B1E5CA}"/>
              </a:ext>
            </a:extLst>
          </p:cNvPr>
          <p:cNvSpPr txBox="1"/>
          <p:nvPr/>
        </p:nvSpPr>
        <p:spPr>
          <a:xfrm>
            <a:off x="254383" y="1039127"/>
            <a:ext cx="301878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73F162-5533-6CF5-C4C9-1119031FA55A}"/>
              </a:ext>
            </a:extLst>
          </p:cNvPr>
          <p:cNvSpPr txBox="1"/>
          <p:nvPr/>
        </p:nvSpPr>
        <p:spPr>
          <a:xfrm>
            <a:off x="556261" y="1039127"/>
            <a:ext cx="2646947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1000" dirty="0" err="1">
                <a:solidFill>
                  <a:schemeClr val="bg1"/>
                </a:solidFill>
              </a:rPr>
              <a:t>Everything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around</a:t>
            </a:r>
            <a:r>
              <a:rPr lang="de-CH" sz="1000" dirty="0">
                <a:solidFill>
                  <a:schemeClr val="bg1"/>
                </a:solidFill>
              </a:rPr>
              <a:t> BW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B52054-C777-2AF9-FB21-94DE0105F084}"/>
              </a:ext>
            </a:extLst>
          </p:cNvPr>
          <p:cNvSpPr txBox="1"/>
          <p:nvPr/>
        </p:nvSpPr>
        <p:spPr>
          <a:xfrm>
            <a:off x="254382" y="1246305"/>
            <a:ext cx="29488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 err="1"/>
              <a:t>Get</a:t>
            </a:r>
            <a:r>
              <a:rPr lang="de-CH" sz="900" dirty="0"/>
              <a:t> a </a:t>
            </a:r>
            <a:r>
              <a:rPr lang="de-CH" sz="900" dirty="0" err="1"/>
              <a:t>minimum</a:t>
            </a:r>
            <a:r>
              <a:rPr lang="de-CH" sz="900" dirty="0"/>
              <a:t> </a:t>
            </a:r>
            <a:r>
              <a:rPr lang="de-CH" sz="900" dirty="0" err="1"/>
              <a:t>understanding</a:t>
            </a:r>
            <a:r>
              <a:rPr lang="de-CH" sz="900" dirty="0"/>
              <a:t> </a:t>
            </a:r>
            <a:r>
              <a:rPr lang="de-CH" sz="900" dirty="0" err="1"/>
              <a:t>of</a:t>
            </a:r>
            <a:r>
              <a:rPr lang="de-CH" sz="900" dirty="0"/>
              <a:t> </a:t>
            </a:r>
            <a:r>
              <a:rPr lang="de-CH" sz="900" dirty="0" err="1"/>
              <a:t>the</a:t>
            </a:r>
            <a:r>
              <a:rPr lang="de-CH" sz="900" dirty="0"/>
              <a:t> </a:t>
            </a:r>
            <a:r>
              <a:rPr lang="de-CH" sz="900" dirty="0" err="1"/>
              <a:t>following</a:t>
            </a:r>
            <a:r>
              <a:rPr lang="de-CH" sz="9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900" i="1" dirty="0" err="1"/>
              <a:t>Anaconda</a:t>
            </a:r>
            <a:r>
              <a:rPr lang="de-CH" sz="900" i="1" dirty="0"/>
              <a:t>/</a:t>
            </a:r>
            <a:r>
              <a:rPr lang="de-CH" sz="900" i="1" dirty="0" err="1"/>
              <a:t>Miniconda</a:t>
            </a:r>
            <a:r>
              <a:rPr lang="de-CH" sz="900" dirty="0"/>
              <a:t>: The </a:t>
            </a:r>
            <a:r>
              <a:rPr lang="de-CH" sz="900" dirty="0" err="1"/>
              <a:t>engine</a:t>
            </a:r>
            <a:r>
              <a:rPr lang="de-CH" sz="900" dirty="0"/>
              <a:t> </a:t>
            </a:r>
            <a:r>
              <a:rPr lang="de-CH" sz="900" dirty="0" err="1"/>
              <a:t>to</a:t>
            </a:r>
            <a:r>
              <a:rPr lang="de-CH" sz="900" dirty="0"/>
              <a:t> </a:t>
            </a:r>
            <a:r>
              <a:rPr lang="de-CH" sz="900" dirty="0" err="1"/>
              <a:t>run</a:t>
            </a:r>
            <a:r>
              <a:rPr lang="de-CH" sz="900" dirty="0"/>
              <a:t> </a:t>
            </a:r>
            <a:r>
              <a:rPr lang="de-CH" sz="900" dirty="0" err="1"/>
              <a:t>the</a:t>
            </a:r>
            <a:r>
              <a:rPr lang="de-CH" sz="900" dirty="0"/>
              <a:t> BW.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900" i="1" dirty="0"/>
              <a:t>Python</a:t>
            </a:r>
            <a:r>
              <a:rPr lang="de-CH" sz="900" dirty="0"/>
              <a:t>: The </a:t>
            </a:r>
            <a:r>
              <a:rPr lang="de-CH" sz="900" dirty="0" err="1"/>
              <a:t>language</a:t>
            </a:r>
            <a:r>
              <a:rPr lang="de-CH" sz="900" dirty="0"/>
              <a:t> in </a:t>
            </a:r>
            <a:r>
              <a:rPr lang="de-CH" sz="900" dirty="0" err="1"/>
              <a:t>which</a:t>
            </a:r>
            <a:r>
              <a:rPr lang="de-CH" sz="900" dirty="0"/>
              <a:t> BW </a:t>
            </a:r>
            <a:r>
              <a:rPr lang="de-CH" sz="900" dirty="0" err="1"/>
              <a:t>is</a:t>
            </a:r>
            <a:r>
              <a:rPr lang="de-CH" sz="900" dirty="0"/>
              <a:t> </a:t>
            </a:r>
            <a:r>
              <a:rPr lang="de-CH" sz="900" dirty="0" err="1"/>
              <a:t>written</a:t>
            </a:r>
            <a:r>
              <a:rPr lang="de-CH" sz="9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900" i="1" dirty="0" err="1"/>
              <a:t>Jupyter</a:t>
            </a:r>
            <a:r>
              <a:rPr lang="de-CH" sz="900" dirty="0"/>
              <a:t>: </a:t>
            </a:r>
            <a:r>
              <a:rPr lang="de-CH" sz="900" dirty="0" err="1"/>
              <a:t>Used</a:t>
            </a:r>
            <a:r>
              <a:rPr lang="de-CH" sz="900" dirty="0"/>
              <a:t> </a:t>
            </a:r>
            <a:r>
              <a:rPr lang="de-CH" sz="900" dirty="0" err="1"/>
              <a:t>to</a:t>
            </a:r>
            <a:r>
              <a:rPr lang="de-CH" sz="900" dirty="0"/>
              <a:t> </a:t>
            </a:r>
            <a:r>
              <a:rPr lang="de-CH" sz="900" dirty="0" err="1"/>
              <a:t>create</a:t>
            </a:r>
            <a:r>
              <a:rPr lang="de-CH" sz="900" dirty="0"/>
              <a:t> and </a:t>
            </a:r>
            <a:r>
              <a:rPr lang="de-CH" sz="900" dirty="0" err="1"/>
              <a:t>share</a:t>
            </a:r>
            <a:r>
              <a:rPr lang="de-CH" sz="900" dirty="0"/>
              <a:t> </a:t>
            </a:r>
            <a:r>
              <a:rPr lang="de-CH" sz="900" dirty="0" err="1"/>
              <a:t>notebooks</a:t>
            </a:r>
            <a:r>
              <a:rPr lang="de-CH" sz="900" dirty="0"/>
              <a:t> </a:t>
            </a:r>
            <a:r>
              <a:rPr lang="de-CH" sz="900" dirty="0" err="1"/>
              <a:t>which</a:t>
            </a:r>
            <a:r>
              <a:rPr lang="de-CH" sz="900" dirty="0"/>
              <a:t> </a:t>
            </a:r>
            <a:r>
              <a:rPr lang="de-CH" sz="900" dirty="0" err="1"/>
              <a:t>contain</a:t>
            </a:r>
            <a:r>
              <a:rPr lang="de-CH" sz="900" dirty="0"/>
              <a:t> </a:t>
            </a:r>
            <a:r>
              <a:rPr lang="de-CH" sz="900" dirty="0" err="1"/>
              <a:t>your</a:t>
            </a:r>
            <a:r>
              <a:rPr lang="de-CH" sz="900" dirty="0"/>
              <a:t> LCA </a:t>
            </a:r>
            <a:r>
              <a:rPr lang="de-CH" sz="900" dirty="0" err="1"/>
              <a:t>study</a:t>
            </a:r>
            <a:r>
              <a:rPr lang="de-CH" sz="900" dirty="0"/>
              <a:t>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900" i="1" dirty="0" err="1"/>
              <a:t>Git</a:t>
            </a:r>
            <a:r>
              <a:rPr lang="de-CH" sz="900" i="1" dirty="0"/>
              <a:t>(hub)</a:t>
            </a:r>
            <a:r>
              <a:rPr lang="de-CH" sz="900" dirty="0"/>
              <a:t>: Sharing code </a:t>
            </a:r>
            <a:r>
              <a:rPr lang="de-CH" sz="900" dirty="0" err="1"/>
              <a:t>openly</a:t>
            </a:r>
            <a:r>
              <a:rPr lang="de-CH" sz="900" dirty="0"/>
              <a:t>, </a:t>
            </a:r>
            <a:r>
              <a:rPr lang="de-CH" sz="900" dirty="0" err="1"/>
              <a:t>collaborating</a:t>
            </a:r>
            <a:r>
              <a:rPr lang="de-CH" sz="9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900" i="1" dirty="0" err="1"/>
              <a:t>Activity</a:t>
            </a:r>
            <a:r>
              <a:rPr lang="de-CH" sz="900" i="1" dirty="0"/>
              <a:t> Browser</a:t>
            </a:r>
            <a:r>
              <a:rPr lang="de-CH" sz="900" dirty="0"/>
              <a:t>: </a:t>
            </a:r>
            <a:r>
              <a:rPr lang="de-CH" sz="900" dirty="0" err="1"/>
              <a:t>Graphical</a:t>
            </a:r>
            <a:r>
              <a:rPr lang="de-CH" sz="900" dirty="0"/>
              <a:t> User Interface </a:t>
            </a:r>
            <a:r>
              <a:rPr lang="de-CH" sz="900" dirty="0" err="1"/>
              <a:t>of</a:t>
            </a:r>
            <a:r>
              <a:rPr lang="de-CH" sz="900" dirty="0"/>
              <a:t> BW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900" i="1" dirty="0"/>
              <a:t>BW</a:t>
            </a:r>
            <a:r>
              <a:rPr lang="de-CH" sz="900" dirty="0"/>
              <a:t>: </a:t>
            </a:r>
            <a:r>
              <a:rPr lang="de-CH" sz="900" dirty="0" err="1"/>
              <a:t>docs.brightway.dev</a:t>
            </a:r>
            <a:r>
              <a:rPr lang="de-CH" sz="900" dirty="0"/>
              <a:t> // </a:t>
            </a:r>
            <a:r>
              <a:rPr lang="de-CH" sz="900" dirty="0" err="1"/>
              <a:t>learn.brightway.dev</a:t>
            </a:r>
            <a:r>
              <a:rPr lang="de-CH" sz="900" dirty="0"/>
              <a:t> // </a:t>
            </a:r>
            <a:r>
              <a:rPr lang="de-CH" sz="900" dirty="0" err="1"/>
              <a:t>live.brightway.dev</a:t>
            </a:r>
            <a:r>
              <a:rPr lang="de-CH" sz="900" dirty="0"/>
              <a:t> // </a:t>
            </a:r>
            <a:r>
              <a:rPr lang="de-CH" sz="900" dirty="0" err="1"/>
              <a:t>try.brightway.dev</a:t>
            </a:r>
            <a:endParaRPr lang="de-CH" sz="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900" i="1" dirty="0"/>
              <a:t>I </a:t>
            </a:r>
            <a:r>
              <a:rPr lang="de-CH" sz="900" i="1" dirty="0" err="1"/>
              <a:t>need</a:t>
            </a:r>
            <a:r>
              <a:rPr lang="de-CH" sz="900" i="1" dirty="0"/>
              <a:t> </a:t>
            </a:r>
            <a:r>
              <a:rPr lang="de-CH" sz="900" i="1" dirty="0" err="1"/>
              <a:t>help</a:t>
            </a:r>
            <a:r>
              <a:rPr lang="de-CH" sz="900" dirty="0"/>
              <a:t>: check/</a:t>
            </a:r>
            <a:r>
              <a:rPr lang="de-CH" sz="900" dirty="0" err="1"/>
              <a:t>post</a:t>
            </a:r>
            <a:r>
              <a:rPr lang="de-CH" sz="900" dirty="0"/>
              <a:t> on </a:t>
            </a:r>
            <a:r>
              <a:rPr lang="de-CH" sz="900" dirty="0">
                <a:hlinkClick r:id="rId2"/>
              </a:rPr>
              <a:t>brightway.groups.io</a:t>
            </a:r>
            <a:r>
              <a:rPr lang="de-CH" sz="900" dirty="0"/>
              <a:t> (</a:t>
            </a:r>
            <a:r>
              <a:rPr lang="de-CH" sz="900" dirty="0" err="1"/>
              <a:t>subgroups</a:t>
            </a:r>
            <a:r>
              <a:rPr lang="de-CH" sz="900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900" dirty="0" err="1"/>
              <a:t>bw</a:t>
            </a:r>
            <a:r>
              <a:rPr lang="de-CH" sz="900" dirty="0"/>
              <a:t> </a:t>
            </a:r>
            <a:r>
              <a:rPr lang="de-CH" sz="900" dirty="0" err="1"/>
              <a:t>ecosystem</a:t>
            </a:r>
            <a:r>
              <a:rPr lang="de-CH" sz="900" dirty="0"/>
              <a:t> </a:t>
            </a:r>
            <a:r>
              <a:rPr lang="de-CH" sz="900" dirty="0" err="1"/>
              <a:t>of</a:t>
            </a:r>
            <a:r>
              <a:rPr lang="de-CH" sz="900" dirty="0"/>
              <a:t> open </a:t>
            </a:r>
            <a:r>
              <a:rPr lang="de-CH" sz="900" dirty="0" err="1"/>
              <a:t>packages</a:t>
            </a:r>
            <a:r>
              <a:rPr lang="de-CH" sz="900" dirty="0"/>
              <a:t> like </a:t>
            </a:r>
            <a:r>
              <a:rPr lang="de-CH" sz="900" dirty="0" err="1"/>
              <a:t>premise</a:t>
            </a:r>
            <a:r>
              <a:rPr lang="de-CH" sz="900" dirty="0"/>
              <a:t>, </a:t>
            </a:r>
            <a:r>
              <a:rPr lang="de-CH" sz="900" dirty="0" err="1"/>
              <a:t>timex</a:t>
            </a:r>
            <a:r>
              <a:rPr lang="de-CH" sz="900" dirty="0"/>
              <a:t> etc.: </a:t>
            </a:r>
            <a:r>
              <a:rPr lang="de-CH" sz="900" dirty="0">
                <a:hlinkClick r:id="rId3"/>
              </a:rPr>
              <a:t>https://premisedash-6f5a0259c487.herokuapp.com/ecosystem/</a:t>
            </a:r>
            <a:r>
              <a:rPr lang="de-CH" sz="900" dirty="0"/>
              <a:t> </a:t>
            </a:r>
            <a:endParaRPr lang="de-CH" sz="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2C36AC-D186-45DD-B4FB-4DC318E0D66A}"/>
              </a:ext>
            </a:extLst>
          </p:cNvPr>
          <p:cNvSpPr txBox="1"/>
          <p:nvPr/>
        </p:nvSpPr>
        <p:spPr>
          <a:xfrm>
            <a:off x="268134" y="3253090"/>
            <a:ext cx="301878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0E418-1FA8-3CB4-81BF-B4B79B92D9DC}"/>
              </a:ext>
            </a:extLst>
          </p:cNvPr>
          <p:cNvSpPr txBox="1"/>
          <p:nvPr/>
        </p:nvSpPr>
        <p:spPr>
          <a:xfrm>
            <a:off x="570012" y="3253090"/>
            <a:ext cx="2774539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1000" dirty="0" err="1">
                <a:solidFill>
                  <a:schemeClr val="bg1"/>
                </a:solidFill>
              </a:rPr>
              <a:t>Installing</a:t>
            </a:r>
            <a:r>
              <a:rPr lang="de-CH" sz="1000" dirty="0">
                <a:solidFill>
                  <a:schemeClr val="bg1"/>
                </a:solidFill>
              </a:rPr>
              <a:t>, </a:t>
            </a:r>
            <a:r>
              <a:rPr lang="de-CH" sz="1000" dirty="0" err="1">
                <a:solidFill>
                  <a:schemeClr val="bg1"/>
                </a:solidFill>
              </a:rPr>
              <a:t>opening</a:t>
            </a:r>
            <a:r>
              <a:rPr lang="de-CH" sz="1000" dirty="0">
                <a:solidFill>
                  <a:schemeClr val="bg1"/>
                </a:solidFill>
              </a:rPr>
              <a:t>, </a:t>
            </a:r>
            <a:r>
              <a:rPr lang="de-CH" sz="1000" dirty="0" err="1">
                <a:solidFill>
                  <a:schemeClr val="bg1"/>
                </a:solidFill>
              </a:rPr>
              <a:t>upgrading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bw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800" dirty="0">
                <a:solidFill>
                  <a:schemeClr val="bg1"/>
                </a:solidFill>
              </a:rPr>
              <a:t>– in prompt </a:t>
            </a:r>
            <a:r>
              <a:rPr lang="de-CH" sz="800" dirty="0" err="1">
                <a:solidFill>
                  <a:schemeClr val="bg1"/>
                </a:solidFill>
              </a:rPr>
              <a:t>window</a:t>
            </a:r>
            <a:endParaRPr lang="de-CH" sz="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153692-5F58-74DF-F617-D9CF58B69071}"/>
              </a:ext>
            </a:extLst>
          </p:cNvPr>
          <p:cNvSpPr txBox="1"/>
          <p:nvPr/>
        </p:nvSpPr>
        <p:spPr>
          <a:xfrm>
            <a:off x="268133" y="3452247"/>
            <a:ext cx="31245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b="1" i="1" dirty="0"/>
              <a:t>Open </a:t>
            </a:r>
            <a:r>
              <a:rPr lang="de-CH" sz="900" b="1" i="1" dirty="0" err="1"/>
              <a:t>your</a:t>
            </a:r>
            <a:r>
              <a:rPr lang="de-CH" sz="900" b="1" i="1" dirty="0"/>
              <a:t> (ana-/mini-)</a:t>
            </a:r>
            <a:r>
              <a:rPr lang="de-CH" sz="900" b="1" i="1" dirty="0" err="1"/>
              <a:t>conda</a:t>
            </a:r>
            <a:r>
              <a:rPr lang="de-CH" sz="900" b="1" i="1" dirty="0"/>
              <a:t> prompt </a:t>
            </a:r>
            <a:r>
              <a:rPr lang="de-CH" sz="900" b="1" i="1" dirty="0" err="1"/>
              <a:t>window</a:t>
            </a:r>
            <a:r>
              <a:rPr lang="de-CH" sz="900" dirty="0"/>
              <a:t> – </a:t>
            </a:r>
            <a:r>
              <a:rPr lang="de-CH" sz="900" dirty="0" err="1"/>
              <a:t>this</a:t>
            </a:r>
            <a:r>
              <a:rPr lang="de-CH" sz="900" dirty="0"/>
              <a:t> </a:t>
            </a:r>
            <a:r>
              <a:rPr lang="de-CH" sz="900" dirty="0" err="1"/>
              <a:t>is</a:t>
            </a:r>
            <a:r>
              <a:rPr lang="de-CH" sz="900" dirty="0"/>
              <a:t> </a:t>
            </a:r>
            <a:r>
              <a:rPr lang="de-CH" sz="900" dirty="0" err="1"/>
              <a:t>always</a:t>
            </a:r>
            <a:r>
              <a:rPr lang="de-CH" sz="900" dirty="0"/>
              <a:t> </a:t>
            </a:r>
            <a:r>
              <a:rPr lang="de-CH" sz="900" dirty="0" err="1"/>
              <a:t>the</a:t>
            </a:r>
            <a:r>
              <a:rPr lang="de-CH" sz="900" dirty="0"/>
              <a:t> </a:t>
            </a:r>
            <a:r>
              <a:rPr lang="de-CH" sz="900" dirty="0" err="1"/>
              <a:t>start</a:t>
            </a:r>
            <a:r>
              <a:rPr lang="de-CH" sz="900" dirty="0"/>
              <a:t> </a:t>
            </a:r>
            <a:r>
              <a:rPr lang="de-CH" sz="900" dirty="0" err="1"/>
              <a:t>of</a:t>
            </a:r>
            <a:r>
              <a:rPr lang="de-CH" sz="900" dirty="0"/>
              <a:t> </a:t>
            </a:r>
            <a:r>
              <a:rPr lang="de-CH" sz="900" dirty="0" err="1"/>
              <a:t>your</a:t>
            </a:r>
            <a:r>
              <a:rPr lang="de-CH" sz="900" dirty="0"/>
              <a:t> </a:t>
            </a:r>
            <a:r>
              <a:rPr lang="de-CH" sz="900" dirty="0" err="1"/>
              <a:t>work</a:t>
            </a:r>
            <a:r>
              <a:rPr lang="de-CH" sz="900" dirty="0"/>
              <a:t> in </a:t>
            </a:r>
            <a:r>
              <a:rPr lang="de-CH" sz="900" dirty="0" err="1"/>
              <a:t>bw</a:t>
            </a:r>
            <a:r>
              <a:rPr lang="de-CH" sz="900" dirty="0"/>
              <a:t>!</a:t>
            </a:r>
          </a:p>
          <a:p>
            <a:r>
              <a:rPr lang="de-CH" sz="900" b="1" i="1" dirty="0"/>
              <a:t>«</a:t>
            </a:r>
            <a:r>
              <a:rPr lang="de-CH" sz="900" b="1" i="1" dirty="0" err="1"/>
              <a:t>Installing</a:t>
            </a:r>
            <a:r>
              <a:rPr lang="de-CH" sz="900" b="1" i="1" dirty="0"/>
              <a:t>» </a:t>
            </a:r>
            <a:r>
              <a:rPr lang="de-CH" sz="900" dirty="0"/>
              <a:t>= </a:t>
            </a:r>
            <a:r>
              <a:rPr lang="de-CH" sz="900" dirty="0" err="1"/>
              <a:t>creating</a:t>
            </a:r>
            <a:r>
              <a:rPr lang="de-CH" sz="900" dirty="0"/>
              <a:t> a </a:t>
            </a:r>
            <a:r>
              <a:rPr lang="de-CH" sz="900" dirty="0" err="1"/>
              <a:t>conda</a:t>
            </a:r>
            <a:r>
              <a:rPr lang="de-CH" sz="900" dirty="0"/>
              <a:t> </a:t>
            </a:r>
            <a:r>
              <a:rPr lang="de-CH" sz="900" dirty="0" err="1"/>
              <a:t>environment</a:t>
            </a:r>
            <a:r>
              <a:rPr lang="de-CH" sz="900" dirty="0"/>
              <a:t> and </a:t>
            </a:r>
            <a:r>
              <a:rPr lang="de-CH" sz="900" dirty="0" err="1"/>
              <a:t>attaching</a:t>
            </a:r>
            <a:r>
              <a:rPr lang="de-CH" sz="900" dirty="0"/>
              <a:t> </a:t>
            </a:r>
            <a:r>
              <a:rPr lang="de-CH" sz="900" dirty="0" err="1"/>
              <a:t>the</a:t>
            </a:r>
            <a:r>
              <a:rPr lang="de-CH" sz="900" dirty="0"/>
              <a:t> </a:t>
            </a:r>
            <a:r>
              <a:rPr lang="de-CH" sz="900" dirty="0" err="1"/>
              <a:t>bw</a:t>
            </a:r>
            <a:r>
              <a:rPr lang="de-CH" sz="900" dirty="0"/>
              <a:t> </a:t>
            </a:r>
            <a:r>
              <a:rPr lang="de-CH" sz="900" dirty="0" err="1"/>
              <a:t>package</a:t>
            </a:r>
            <a:r>
              <a:rPr lang="de-CH" sz="900" dirty="0"/>
              <a:t> </a:t>
            </a:r>
            <a:r>
              <a:rPr lang="de-CH" sz="900" dirty="0" err="1"/>
              <a:t>to</a:t>
            </a:r>
            <a:r>
              <a:rPr lang="de-CH" sz="900" dirty="0"/>
              <a:t> </a:t>
            </a:r>
            <a:r>
              <a:rPr lang="de-CH" sz="900" dirty="0" err="1"/>
              <a:t>it</a:t>
            </a:r>
            <a:r>
              <a:rPr lang="de-CH" sz="900" dirty="0"/>
              <a:t>: </a:t>
            </a:r>
          </a:p>
          <a:p>
            <a:r>
              <a:rPr kumimoji="0" lang="de-DE" altLang="de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conda create -n yourenv -c conda-forge -c cmutel brightway25</a:t>
            </a:r>
          </a:p>
          <a:p>
            <a:r>
              <a:rPr lang="de-CH" sz="900" b="1" i="1" dirty="0" err="1"/>
              <a:t>Starting</a:t>
            </a:r>
            <a:r>
              <a:rPr lang="de-CH" sz="900" b="1" i="1" dirty="0"/>
              <a:t> = </a:t>
            </a:r>
            <a:r>
              <a:rPr lang="de-CH" sz="900" b="1" i="1" dirty="0" err="1"/>
              <a:t>opening</a:t>
            </a:r>
            <a:r>
              <a:rPr lang="de-CH" sz="900" b="1" i="1" dirty="0"/>
              <a:t> </a:t>
            </a:r>
            <a:r>
              <a:rPr lang="de-CH" sz="900" b="1" i="1" dirty="0" err="1"/>
              <a:t>bw</a:t>
            </a:r>
            <a:r>
              <a:rPr lang="de-CH" sz="900" b="1" i="1" dirty="0"/>
              <a:t>:</a:t>
            </a:r>
            <a:r>
              <a:rPr lang="de-CH" sz="900" i="1" dirty="0"/>
              <a:t> </a:t>
            </a:r>
            <a:r>
              <a:rPr lang="de-CH" sz="900" dirty="0" err="1"/>
              <a:t>we</a:t>
            </a:r>
            <a:r>
              <a:rPr lang="de-CH" sz="900" dirty="0"/>
              <a:t> </a:t>
            </a:r>
            <a:r>
              <a:rPr lang="de-CH" sz="900" dirty="0" err="1"/>
              <a:t>want</a:t>
            </a:r>
            <a:r>
              <a:rPr lang="de-CH" sz="900" dirty="0"/>
              <a:t> </a:t>
            </a:r>
            <a:r>
              <a:rPr lang="de-CH" sz="900" dirty="0" err="1"/>
              <a:t>to</a:t>
            </a:r>
            <a:r>
              <a:rPr lang="de-CH" sz="900" dirty="0"/>
              <a:t> open a </a:t>
            </a:r>
            <a:r>
              <a:rPr lang="de-CH" sz="900" dirty="0" err="1"/>
              <a:t>jupyter</a:t>
            </a:r>
            <a:r>
              <a:rPr lang="de-CH" sz="900" dirty="0"/>
              <a:t> </a:t>
            </a:r>
            <a:r>
              <a:rPr lang="de-CH" sz="900" dirty="0" err="1"/>
              <a:t>notebook</a:t>
            </a:r>
            <a:r>
              <a:rPr lang="de-CH" sz="900" dirty="0"/>
              <a:t> in </a:t>
            </a:r>
            <a:r>
              <a:rPr lang="de-CH" sz="900" dirty="0" err="1"/>
              <a:t>the</a:t>
            </a:r>
            <a:r>
              <a:rPr lang="de-CH" sz="900" dirty="0"/>
              <a:t> </a:t>
            </a:r>
            <a:r>
              <a:rPr lang="de-CH" sz="900" dirty="0" err="1"/>
              <a:t>environment</a:t>
            </a:r>
            <a:r>
              <a:rPr lang="de-CH" sz="900" dirty="0"/>
              <a:t> </a:t>
            </a:r>
            <a:r>
              <a:rPr lang="de-CH" sz="900" dirty="0" err="1"/>
              <a:t>you</a:t>
            </a:r>
            <a:r>
              <a:rPr lang="de-CH" sz="900" dirty="0"/>
              <a:t> </a:t>
            </a:r>
            <a:r>
              <a:rPr lang="de-CH" sz="900" dirty="0" err="1"/>
              <a:t>want</a:t>
            </a:r>
            <a:r>
              <a:rPr lang="de-CH" sz="900" dirty="0"/>
              <a:t> </a:t>
            </a:r>
            <a:r>
              <a:rPr lang="de-CH" sz="900" dirty="0" err="1"/>
              <a:t>to</a:t>
            </a:r>
            <a:r>
              <a:rPr lang="de-CH" sz="900" dirty="0"/>
              <a:t> </a:t>
            </a:r>
            <a:r>
              <a:rPr lang="de-CH" sz="900" dirty="0" err="1"/>
              <a:t>work</a:t>
            </a:r>
            <a:r>
              <a:rPr lang="de-CH" sz="900" dirty="0"/>
              <a:t> </a:t>
            </a:r>
            <a:r>
              <a:rPr lang="de-CH" sz="900" dirty="0" err="1"/>
              <a:t>with</a:t>
            </a:r>
            <a:r>
              <a:rPr lang="de-CH" sz="900" dirty="0"/>
              <a:t>: </a:t>
            </a:r>
          </a:p>
          <a:p>
            <a:r>
              <a:rPr lang="de-CH" sz="900" dirty="0"/>
              <a:t>open </a:t>
            </a:r>
            <a:r>
              <a:rPr lang="de-CH" sz="900" dirty="0" err="1"/>
              <a:t>anaconda</a:t>
            </a:r>
            <a:r>
              <a:rPr lang="de-CH" sz="900" dirty="0"/>
              <a:t> prompt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/>
              <a:t>for</a:t>
            </a:r>
            <a:r>
              <a:rPr lang="de-CH" sz="900" dirty="0"/>
              <a:t> </a:t>
            </a:r>
            <a:r>
              <a:rPr lang="de-CH" sz="900" dirty="0" err="1"/>
              <a:t>knowing</a:t>
            </a:r>
            <a:r>
              <a:rPr lang="de-CH" sz="900" dirty="0"/>
              <a:t> </a:t>
            </a:r>
            <a:r>
              <a:rPr lang="de-CH" sz="900" dirty="0" err="1"/>
              <a:t>which</a:t>
            </a:r>
            <a:r>
              <a:rPr lang="de-CH" sz="900" dirty="0"/>
              <a:t> </a:t>
            </a:r>
            <a:r>
              <a:rPr lang="de-CH" sz="900" dirty="0" err="1"/>
              <a:t>envs</a:t>
            </a:r>
            <a:r>
              <a:rPr lang="de-CH" sz="900" dirty="0"/>
              <a:t> </a:t>
            </a:r>
            <a:r>
              <a:rPr lang="de-CH" sz="900" dirty="0" err="1"/>
              <a:t>you</a:t>
            </a:r>
            <a:r>
              <a:rPr lang="de-CH" sz="900" dirty="0"/>
              <a:t> </a:t>
            </a:r>
            <a:r>
              <a:rPr lang="de-CH" sz="900" dirty="0" err="1"/>
              <a:t>have</a:t>
            </a:r>
            <a:r>
              <a:rPr lang="de-CH" sz="800" dirty="0"/>
              <a:t>)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yourenv</a:t>
            </a:r>
            <a:endParaRPr lang="de-CH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lab </a:t>
            </a:r>
            <a:r>
              <a:rPr lang="de-CH" sz="800" dirty="0" err="1"/>
              <a:t>or</a:t>
            </a:r>
            <a:r>
              <a:rPr lang="de-CH" sz="800" dirty="0"/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notebook</a:t>
            </a:r>
            <a:r>
              <a:rPr lang="de-CH" sz="800" dirty="0"/>
              <a:t>)</a:t>
            </a:r>
          </a:p>
          <a:p>
            <a:r>
              <a:rPr lang="de-CH" sz="900" b="1" i="1" dirty="0" err="1"/>
              <a:t>Updating</a:t>
            </a:r>
            <a:r>
              <a:rPr lang="de-CH" sz="900" dirty="0"/>
              <a:t>: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yourenv</a:t>
            </a:r>
            <a:endParaRPr lang="de-CH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700" dirty="0">
                <a:latin typeface="Courier New" panose="02070309020205020404" pitchFamily="49" charset="0"/>
                <a:cs typeface="Courier New" panose="02070309020205020404" pitchFamily="49" charset="0"/>
              </a:rPr>
              <a:t>conda update -c conda-forge -c cmutel brightway25</a:t>
            </a:r>
            <a:endParaRPr lang="de-CH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D5E3A8-179B-BDA5-48FE-6CDC294263EC}"/>
              </a:ext>
            </a:extLst>
          </p:cNvPr>
          <p:cNvSpPr txBox="1"/>
          <p:nvPr/>
        </p:nvSpPr>
        <p:spPr>
          <a:xfrm>
            <a:off x="303649" y="5336576"/>
            <a:ext cx="301878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48787D-F88B-3CA7-0E52-9C5BAF3FCAD4}"/>
              </a:ext>
            </a:extLst>
          </p:cNvPr>
          <p:cNvSpPr txBox="1"/>
          <p:nvPr/>
        </p:nvSpPr>
        <p:spPr>
          <a:xfrm>
            <a:off x="605527" y="5336576"/>
            <a:ext cx="2646947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1000" dirty="0" err="1">
                <a:solidFill>
                  <a:schemeClr val="bg1"/>
                </a:solidFill>
              </a:rPr>
              <a:t>Starting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to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use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bw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800" dirty="0">
                <a:solidFill>
                  <a:schemeClr val="bg1"/>
                </a:solidFill>
              </a:rPr>
              <a:t>– in </a:t>
            </a:r>
            <a:r>
              <a:rPr lang="de-CH" sz="800" dirty="0" err="1">
                <a:solidFill>
                  <a:schemeClr val="bg1"/>
                </a:solidFill>
              </a:rPr>
              <a:t>jupyter</a:t>
            </a:r>
            <a:r>
              <a:rPr lang="de-CH" sz="800" dirty="0">
                <a:solidFill>
                  <a:schemeClr val="bg1"/>
                </a:solidFill>
              </a:rPr>
              <a:t> </a:t>
            </a:r>
            <a:r>
              <a:rPr lang="de-CH" sz="800" dirty="0" err="1">
                <a:solidFill>
                  <a:schemeClr val="bg1"/>
                </a:solidFill>
              </a:rPr>
              <a:t>notebook</a:t>
            </a:r>
            <a:endParaRPr lang="de-CH" sz="8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D1A80E-F98F-56C9-0F8D-BA72C124F701}"/>
              </a:ext>
            </a:extLst>
          </p:cNvPr>
          <p:cNvSpPr txBox="1"/>
          <p:nvPr/>
        </p:nvSpPr>
        <p:spPr>
          <a:xfrm>
            <a:off x="3450628" y="3412203"/>
            <a:ext cx="301878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  <a:p>
            <a:endParaRPr lang="de-CH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661D18-DC23-F287-E0CC-FEA5B888E860}"/>
              </a:ext>
            </a:extLst>
          </p:cNvPr>
          <p:cNvSpPr txBox="1"/>
          <p:nvPr/>
        </p:nvSpPr>
        <p:spPr>
          <a:xfrm>
            <a:off x="3729979" y="3403537"/>
            <a:ext cx="2646947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1000" dirty="0">
                <a:solidFill>
                  <a:schemeClr val="bg1"/>
                </a:solidFill>
              </a:rPr>
              <a:t>Import </a:t>
            </a:r>
            <a:r>
              <a:rPr lang="de-CH" sz="1000" dirty="0" err="1">
                <a:solidFill>
                  <a:schemeClr val="bg1"/>
                </a:solidFill>
              </a:rPr>
              <a:t>databases</a:t>
            </a:r>
            <a:r>
              <a:rPr lang="de-CH" sz="1000" dirty="0">
                <a:solidFill>
                  <a:schemeClr val="bg1"/>
                </a:solidFill>
              </a:rPr>
              <a:t> – </a:t>
            </a:r>
            <a:r>
              <a:rPr lang="de-CH" sz="1000" dirty="0" err="1">
                <a:solidFill>
                  <a:schemeClr val="bg1"/>
                </a:solidFill>
              </a:rPr>
              <a:t>biosphere</a:t>
            </a:r>
            <a:r>
              <a:rPr lang="de-CH" sz="1000" dirty="0">
                <a:solidFill>
                  <a:schemeClr val="bg1"/>
                </a:solidFill>
              </a:rPr>
              <a:t>, </a:t>
            </a:r>
            <a:r>
              <a:rPr lang="de-CH" sz="1000" dirty="0" err="1">
                <a:solidFill>
                  <a:schemeClr val="bg1"/>
                </a:solidFill>
              </a:rPr>
              <a:t>methods</a:t>
            </a:r>
            <a:r>
              <a:rPr lang="de-CH" sz="1000" dirty="0">
                <a:solidFill>
                  <a:schemeClr val="bg1"/>
                </a:solidFill>
              </a:rPr>
              <a:t>, </a:t>
            </a:r>
            <a:r>
              <a:rPr lang="de-CH" sz="1000" dirty="0" err="1">
                <a:solidFill>
                  <a:schemeClr val="bg1"/>
                </a:solidFill>
              </a:rPr>
              <a:t>ecoinvent</a:t>
            </a:r>
            <a:endParaRPr lang="de-CH" sz="10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0A6826-0151-8274-7299-E84E5970AC34}"/>
              </a:ext>
            </a:extLst>
          </p:cNvPr>
          <p:cNvSpPr txBox="1"/>
          <p:nvPr/>
        </p:nvSpPr>
        <p:spPr>
          <a:xfrm>
            <a:off x="3349963" y="3803620"/>
            <a:ext cx="3206074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bd.databases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/>
              <a:t>(</a:t>
            </a:r>
            <a:r>
              <a:rPr lang="de-CH" sz="900" dirty="0" err="1"/>
              <a:t>which</a:t>
            </a:r>
            <a:r>
              <a:rPr lang="de-CH" sz="900" dirty="0"/>
              <a:t> </a:t>
            </a:r>
            <a:r>
              <a:rPr lang="de-CH" sz="900" dirty="0" err="1"/>
              <a:t>databases</a:t>
            </a:r>
            <a:r>
              <a:rPr lang="de-CH" sz="900" dirty="0"/>
              <a:t> do I </a:t>
            </a:r>
            <a:r>
              <a:rPr lang="de-CH" sz="900" dirty="0" err="1"/>
              <a:t>have</a:t>
            </a:r>
            <a:r>
              <a:rPr lang="de-CH" sz="900" dirty="0"/>
              <a:t> in </a:t>
            </a:r>
            <a:r>
              <a:rPr lang="de-CH" sz="900" dirty="0" err="1"/>
              <a:t>my</a:t>
            </a:r>
            <a:r>
              <a:rPr lang="de-CH" sz="900" dirty="0"/>
              <a:t> </a:t>
            </a:r>
            <a:r>
              <a:rPr lang="de-CH" sz="900" dirty="0" err="1"/>
              <a:t>project</a:t>
            </a:r>
            <a:r>
              <a:rPr lang="de-CH" sz="900" dirty="0"/>
              <a:t>)</a:t>
            </a:r>
          </a:p>
          <a:p>
            <a:r>
              <a:rPr lang="de-CH" sz="900" b="1" i="1" dirty="0"/>
              <a:t>a. </a:t>
            </a:r>
            <a:r>
              <a:rPr lang="de-CH" sz="900" b="1" i="1" dirty="0" err="1"/>
              <a:t>biosphere</a:t>
            </a:r>
            <a:r>
              <a:rPr lang="de-CH" sz="900" b="1" i="1" dirty="0"/>
              <a:t>, </a:t>
            </a:r>
            <a:r>
              <a:rPr lang="de-CH" sz="900" b="1" i="1" dirty="0" err="1"/>
              <a:t>ecoinvent</a:t>
            </a:r>
            <a:r>
              <a:rPr lang="de-CH" sz="900" b="1" i="1" dirty="0"/>
              <a:t> 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bi.import_ecoinvent_release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‘</a:t>
            </a:r>
            <a:r>
              <a:rPr lang="de-CH" sz="800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versionnumber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systemmodel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ecoinvent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User Name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ecoinvent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CH" sz="800" dirty="0">
                <a:latin typeface="Calibri body"/>
                <a:cs typeface="Courier New" panose="02070309020205020404" pitchFamily="49" charset="0"/>
              </a:rPr>
              <a:t>System </a:t>
            </a:r>
            <a:r>
              <a:rPr lang="de-CH" sz="800" dirty="0" err="1">
                <a:latin typeface="Calibri body"/>
                <a:cs typeface="Courier New" panose="02070309020205020404" pitchFamily="49" charset="0"/>
              </a:rPr>
              <a:t>model</a:t>
            </a:r>
            <a:r>
              <a:rPr lang="de-CH" sz="800" dirty="0">
                <a:latin typeface="Calibri body"/>
                <a:cs typeface="Courier New" panose="02070309020205020404" pitchFamily="49" charset="0"/>
              </a:rPr>
              <a:t> = </a:t>
            </a:r>
            <a:r>
              <a:rPr lang="de-CH" sz="800" dirty="0" err="1">
                <a:latin typeface="Calibri body"/>
                <a:cs typeface="Courier New" panose="02070309020205020404" pitchFamily="49" charset="0"/>
              </a:rPr>
              <a:t>cutoff</a:t>
            </a:r>
            <a:r>
              <a:rPr lang="de-CH" sz="800" dirty="0">
                <a:latin typeface="Calibri body"/>
                <a:cs typeface="Courier New" panose="02070309020205020404" pitchFamily="49" charset="0"/>
              </a:rPr>
              <a:t> / </a:t>
            </a:r>
            <a:r>
              <a:rPr lang="de-CH" sz="800" dirty="0" err="1">
                <a:latin typeface="Calibri body"/>
                <a:cs typeface="Courier New" panose="02070309020205020404" pitchFamily="49" charset="0"/>
              </a:rPr>
              <a:t>apos</a:t>
            </a:r>
            <a:r>
              <a:rPr lang="de-CH" sz="800" dirty="0">
                <a:latin typeface="Calibri body"/>
                <a:cs typeface="Courier New" panose="02070309020205020404" pitchFamily="49" charset="0"/>
              </a:rPr>
              <a:t> / </a:t>
            </a:r>
            <a:r>
              <a:rPr lang="de-CH" sz="800" dirty="0" err="1">
                <a:latin typeface="Calibri body"/>
                <a:cs typeface="Courier New" panose="02070309020205020404" pitchFamily="49" charset="0"/>
              </a:rPr>
              <a:t>consequential</a:t>
            </a:r>
            <a:r>
              <a:rPr lang="de-CH" sz="800" dirty="0">
                <a:latin typeface="Calibri body"/>
                <a:cs typeface="Courier New" panose="02070309020205020404" pitchFamily="49" charset="0"/>
              </a:rPr>
              <a:t> / EN15804</a:t>
            </a:r>
          </a:p>
          <a:p>
            <a:r>
              <a:rPr lang="de-CH" sz="900" b="1" i="1" dirty="0">
                <a:cs typeface="Courier New" panose="02070309020205020404" pitchFamily="49" charset="0"/>
              </a:rPr>
              <a:t>b1. </a:t>
            </a:r>
            <a:r>
              <a:rPr lang="de-CH" sz="900" b="1" i="1" dirty="0" err="1">
                <a:cs typeface="Courier New" panose="02070309020205020404" pitchFamily="49" charset="0"/>
              </a:rPr>
              <a:t>biosphere</a:t>
            </a:r>
            <a:endParaRPr lang="de-CH" sz="900" b="1" i="1" dirty="0">
              <a:cs typeface="Courier New" panose="02070309020205020404" pitchFamily="49" charset="0"/>
            </a:endParaRP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bi.bw2setup()</a:t>
            </a:r>
            <a:r>
              <a:rPr lang="de-CH" sz="900" dirty="0"/>
              <a:t> (</a:t>
            </a:r>
            <a:r>
              <a:rPr lang="de-CH" sz="900" dirty="0" err="1"/>
              <a:t>creates</a:t>
            </a:r>
            <a:r>
              <a:rPr lang="de-CH" sz="900" dirty="0"/>
              <a:t> </a:t>
            </a:r>
            <a:r>
              <a:rPr lang="de-CH" sz="900" dirty="0" err="1"/>
              <a:t>the</a:t>
            </a:r>
            <a:r>
              <a:rPr lang="de-CH" sz="900" dirty="0"/>
              <a:t> 'biosphere3' </a:t>
            </a:r>
            <a:r>
              <a:rPr lang="de-CH" sz="900" dirty="0" err="1"/>
              <a:t>db</a:t>
            </a:r>
            <a:r>
              <a:rPr lang="de-CH" sz="900" dirty="0"/>
              <a:t> and </a:t>
            </a:r>
            <a:r>
              <a:rPr lang="de-CH" sz="900" dirty="0" err="1"/>
              <a:t>imports</a:t>
            </a:r>
            <a:r>
              <a:rPr lang="de-CH" sz="900" dirty="0"/>
              <a:t> </a:t>
            </a:r>
            <a:r>
              <a:rPr lang="de-CH" sz="900" dirty="0" err="1"/>
              <a:t>the</a:t>
            </a:r>
            <a:r>
              <a:rPr lang="de-CH" sz="900" dirty="0"/>
              <a:t> LCIA </a:t>
            </a:r>
            <a:r>
              <a:rPr lang="de-CH" sz="900" dirty="0" err="1"/>
              <a:t>methods</a:t>
            </a:r>
            <a:r>
              <a:rPr lang="de-CH" sz="900" dirty="0"/>
              <a:t>)</a:t>
            </a:r>
          </a:p>
          <a:p>
            <a:r>
              <a:rPr lang="de-CH" sz="900" b="1" i="1" dirty="0"/>
              <a:t>b2. Any </a:t>
            </a:r>
            <a:r>
              <a:rPr lang="de-CH" sz="900" b="1" i="1" dirty="0" err="1"/>
              <a:t>other</a:t>
            </a:r>
            <a:r>
              <a:rPr lang="de-CH" sz="900" b="1" i="1" dirty="0"/>
              <a:t> </a:t>
            </a:r>
            <a:r>
              <a:rPr lang="de-CH" sz="900" b="1" i="1" dirty="0" err="1"/>
              <a:t>database</a:t>
            </a:r>
            <a:r>
              <a:rPr lang="de-CH" sz="900" b="1" i="1" dirty="0"/>
              <a:t> </a:t>
            </a:r>
            <a:r>
              <a:rPr lang="de-CH" sz="900" b="1" i="1" dirty="0" err="1"/>
              <a:t>with</a:t>
            </a:r>
            <a:r>
              <a:rPr lang="de-CH" sz="900" b="1" i="1" dirty="0"/>
              <a:t> spold2 </a:t>
            </a:r>
            <a:r>
              <a:rPr lang="de-CH" sz="900" b="1" i="1" dirty="0" err="1"/>
              <a:t>format</a:t>
            </a:r>
            <a:r>
              <a:rPr lang="de-CH" sz="900" b="1" i="1" dirty="0"/>
              <a:t>, e.g. </a:t>
            </a:r>
            <a:r>
              <a:rPr lang="de-CH" sz="900" b="1" i="1" dirty="0" err="1"/>
              <a:t>ecoinvent</a:t>
            </a:r>
            <a:endParaRPr lang="de-CH" sz="900" dirty="0"/>
          </a:p>
          <a:p>
            <a:r>
              <a:rPr lang="de-CH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</a:t>
            </a:r>
            <a:r>
              <a:rPr lang="de-CH" sz="7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CH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r'C</a:t>
            </a:r>
            <a:r>
              <a:rPr lang="de-CH" sz="700" dirty="0">
                <a:latin typeface="Courier New" panose="02070309020205020404" pitchFamily="49" charset="0"/>
                <a:cs typeface="Courier New" panose="02070309020205020404" pitchFamily="49" charset="0"/>
              </a:rPr>
              <a:t>:\ecoinvent_3.11_cutoff_ecoSpold02\</a:t>
            </a:r>
            <a:r>
              <a:rPr lang="de-CH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datasets</a:t>
            </a:r>
            <a:r>
              <a:rPr lang="de-CH" sz="700" dirty="0"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de-CH" sz="900" dirty="0">
                <a:cs typeface="Courier New" panose="02070309020205020404" pitchFamily="49" charset="0"/>
              </a:rPr>
              <a:t>(</a:t>
            </a:r>
            <a:r>
              <a:rPr lang="de-CH" sz="900" dirty="0" err="1">
                <a:cs typeface="Courier New" panose="02070309020205020404" pitchFamily="49" charset="0"/>
              </a:rPr>
              <a:t>filepath</a:t>
            </a:r>
            <a:r>
              <a:rPr lang="de-CH" sz="900" dirty="0">
                <a:cs typeface="Courier New" panose="02070309020205020404" pitchFamily="49" charset="0"/>
              </a:rPr>
              <a:t> </a:t>
            </a:r>
            <a:r>
              <a:rPr lang="de-CH" sz="900" dirty="0" err="1">
                <a:cs typeface="Courier New" panose="02070309020205020404" pitchFamily="49" charset="0"/>
              </a:rPr>
              <a:t>example</a:t>
            </a:r>
            <a:r>
              <a:rPr lang="de-CH" sz="900" dirty="0">
                <a:cs typeface="Courier New" panose="02070309020205020404" pitchFamily="49" charset="0"/>
              </a:rPr>
              <a:t>)</a:t>
            </a:r>
            <a:endParaRPr lang="de-CH" sz="1000" dirty="0">
              <a:cs typeface="Courier New" panose="02070309020205020404" pitchFamily="49" charset="0"/>
            </a:endParaRP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ei311imp = bi.SingleOutputEcospold2Importer(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‘ev311cutoff') </a:t>
            </a:r>
            <a:r>
              <a:rPr lang="de-CH" sz="900" dirty="0">
                <a:cs typeface="Courier New" panose="02070309020205020404" pitchFamily="49" charset="0"/>
              </a:rPr>
              <a:t>(</a:t>
            </a:r>
            <a:r>
              <a:rPr lang="de-CH" sz="900" dirty="0" err="1">
                <a:cs typeface="Courier New" panose="02070309020205020404" pitchFamily="49" charset="0"/>
              </a:rPr>
              <a:t>give</a:t>
            </a:r>
            <a:r>
              <a:rPr lang="de-CH" sz="900" dirty="0">
                <a:cs typeface="Courier New" panose="02070309020205020404" pitchFamily="49" charset="0"/>
              </a:rPr>
              <a:t> </a:t>
            </a:r>
            <a:r>
              <a:rPr lang="de-CH" sz="900" dirty="0" err="1">
                <a:cs typeface="Courier New" panose="02070309020205020404" pitchFamily="49" charset="0"/>
              </a:rPr>
              <a:t>your</a:t>
            </a:r>
            <a:r>
              <a:rPr lang="de-CH" sz="900" dirty="0">
                <a:cs typeface="Courier New" panose="02070309020205020404" pitchFamily="49" charset="0"/>
              </a:rPr>
              <a:t> own </a:t>
            </a:r>
            <a:r>
              <a:rPr lang="de-CH" sz="900" dirty="0" err="1">
                <a:cs typeface="Courier New" panose="02070309020205020404" pitchFamily="49" charset="0"/>
              </a:rPr>
              <a:t>name</a:t>
            </a:r>
            <a:r>
              <a:rPr lang="de-CH" sz="900" dirty="0">
                <a:cs typeface="Courier New" panose="02070309020205020404" pitchFamily="49" charset="0"/>
              </a:rPr>
              <a:t> </a:t>
            </a:r>
            <a:r>
              <a:rPr lang="de-CH" sz="900" dirty="0" err="1">
                <a:cs typeface="Courier New" panose="02070309020205020404" pitchFamily="49" charset="0"/>
              </a:rPr>
              <a:t>to</a:t>
            </a:r>
            <a:r>
              <a:rPr lang="de-CH" sz="900" dirty="0">
                <a:cs typeface="Courier New" panose="02070309020205020404" pitchFamily="49" charset="0"/>
              </a:rPr>
              <a:t> </a:t>
            </a:r>
            <a:r>
              <a:rPr lang="de-CH" sz="900" dirty="0" err="1">
                <a:cs typeface="Courier New" panose="02070309020205020404" pitchFamily="49" charset="0"/>
              </a:rPr>
              <a:t>the</a:t>
            </a:r>
            <a:r>
              <a:rPr lang="de-CH" sz="900" dirty="0">
                <a:cs typeface="Courier New" panose="02070309020205020404" pitchFamily="49" charset="0"/>
              </a:rPr>
              <a:t> </a:t>
            </a:r>
            <a:r>
              <a:rPr lang="de-CH" sz="900" dirty="0" err="1">
                <a:cs typeface="Courier New" panose="02070309020205020404" pitchFamily="49" charset="0"/>
              </a:rPr>
              <a:t>db</a:t>
            </a:r>
            <a:r>
              <a:rPr lang="de-CH" sz="900" dirty="0">
                <a:cs typeface="Courier New" panose="02070309020205020404" pitchFamily="49" charset="0"/>
              </a:rPr>
              <a:t>)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ei311imp.apply_strategies()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ei311imp.statistics()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(ei311imp.unlinked)) == 0: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ei311imp.write_database()</a:t>
            </a:r>
            <a:endParaRPr lang="de-CH" sz="800" b="1" i="1" dirty="0">
              <a:latin typeface="Calibri body"/>
              <a:cs typeface="Courier New" panose="020703090202050204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AB8501-1788-A752-1843-24FFC26C033E}"/>
              </a:ext>
            </a:extLst>
          </p:cNvPr>
          <p:cNvSpPr txBox="1"/>
          <p:nvPr/>
        </p:nvSpPr>
        <p:spPr>
          <a:xfrm>
            <a:off x="268133" y="5567855"/>
            <a:ext cx="294882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de-CH" sz="900" dirty="0"/>
              <a:t>«open </a:t>
            </a:r>
            <a:r>
              <a:rPr lang="de-CH" sz="900" dirty="0" err="1"/>
              <a:t>bw</a:t>
            </a:r>
            <a:r>
              <a:rPr lang="de-CH" sz="900" dirty="0"/>
              <a:t>» = open </a:t>
            </a:r>
            <a:r>
              <a:rPr lang="de-CH" sz="900" dirty="0" err="1"/>
              <a:t>your</a:t>
            </a:r>
            <a:r>
              <a:rPr lang="de-CH" sz="900" dirty="0"/>
              <a:t> </a:t>
            </a:r>
            <a:r>
              <a:rPr lang="de-CH" sz="900" dirty="0" err="1"/>
              <a:t>jupyter</a:t>
            </a:r>
            <a:r>
              <a:rPr lang="de-CH" sz="900" dirty="0"/>
              <a:t> </a:t>
            </a:r>
            <a:r>
              <a:rPr lang="de-CH" sz="900" dirty="0" err="1"/>
              <a:t>notebook</a:t>
            </a:r>
            <a:r>
              <a:rPr lang="de-CH" sz="900" dirty="0"/>
              <a:t> (</a:t>
            </a:r>
            <a:r>
              <a:rPr lang="de-CH" sz="900" dirty="0" err="1"/>
              <a:t>see</a:t>
            </a:r>
            <a:r>
              <a:rPr lang="de-CH" sz="900" dirty="0"/>
              <a:t> </a:t>
            </a:r>
            <a:r>
              <a:rPr lang="de-CH" sz="900" dirty="0" err="1"/>
              <a:t>above</a:t>
            </a:r>
            <a:r>
              <a:rPr lang="de-CH" sz="900" dirty="0"/>
              <a:t>)</a:t>
            </a:r>
          </a:p>
          <a:p>
            <a:pPr marL="228600" indent="-228600">
              <a:buAutoNum type="arabicPeriod"/>
            </a:pPr>
            <a:r>
              <a:rPr lang="de-CH" sz="900" dirty="0"/>
              <a:t>Import all </a:t>
            </a:r>
            <a:r>
              <a:rPr lang="de-CH" sz="900" dirty="0" err="1"/>
              <a:t>necessary</a:t>
            </a:r>
            <a:r>
              <a:rPr lang="de-CH" sz="900" dirty="0"/>
              <a:t> </a:t>
            </a:r>
            <a:r>
              <a:rPr lang="de-CH" sz="900" dirty="0" err="1"/>
              <a:t>packages</a:t>
            </a:r>
            <a:r>
              <a:rPr lang="de-CH" sz="900" dirty="0"/>
              <a:t>:</a:t>
            </a:r>
          </a:p>
          <a:p>
            <a:r>
              <a:rPr lang="de-CH" sz="900" dirty="0"/>
              <a:t>Minimum </a:t>
            </a:r>
            <a:r>
              <a:rPr lang="de-CH" sz="900" dirty="0" err="1"/>
              <a:t>is</a:t>
            </a:r>
            <a:r>
              <a:rPr lang="de-CH" sz="900" dirty="0"/>
              <a:t> </a:t>
            </a:r>
            <a:r>
              <a:rPr lang="de-CH" sz="900" dirty="0" err="1"/>
              <a:t>this</a:t>
            </a:r>
            <a:r>
              <a:rPr lang="de-CH" sz="900" dirty="0"/>
              <a:t>: </a:t>
            </a:r>
          </a:p>
          <a:p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bw2io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bi //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bw2data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//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bw2calc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bc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 err="1"/>
              <a:t>Often</a:t>
            </a:r>
            <a:r>
              <a:rPr lang="de-CH" sz="900" dirty="0"/>
              <a:t>, on top: #data </a:t>
            </a:r>
            <a:r>
              <a:rPr lang="de-CH" sz="900" dirty="0" err="1"/>
              <a:t>science</a:t>
            </a:r>
            <a:r>
              <a:rPr lang="de-CH" sz="900" dirty="0"/>
              <a:t> </a:t>
            </a:r>
          </a:p>
          <a:p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//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/>
              <a:t>#plotting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sns</a:t>
            </a:r>
            <a:endParaRPr lang="de-CH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DAAEFB-6A82-BC22-D91A-1A64C9EBD204}"/>
              </a:ext>
            </a:extLst>
          </p:cNvPr>
          <p:cNvSpPr txBox="1"/>
          <p:nvPr/>
        </p:nvSpPr>
        <p:spPr>
          <a:xfrm>
            <a:off x="3380068" y="234962"/>
            <a:ext cx="301878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785117-3DBC-44A5-F6E8-ACF18D6D3516}"/>
              </a:ext>
            </a:extLst>
          </p:cNvPr>
          <p:cNvSpPr txBox="1"/>
          <p:nvPr/>
        </p:nvSpPr>
        <p:spPr>
          <a:xfrm>
            <a:off x="3681946" y="234962"/>
            <a:ext cx="2646947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1000" dirty="0">
                <a:solidFill>
                  <a:schemeClr val="bg1"/>
                </a:solidFill>
              </a:rPr>
              <a:t>Working on </a:t>
            </a:r>
            <a:r>
              <a:rPr lang="de-CH" sz="1000" dirty="0" err="1">
                <a:solidFill>
                  <a:schemeClr val="bg1"/>
                </a:solidFill>
              </a:rPr>
              <a:t>projects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800" dirty="0">
                <a:solidFill>
                  <a:schemeClr val="bg1"/>
                </a:solidFill>
              </a:rPr>
              <a:t>– in </a:t>
            </a:r>
            <a:r>
              <a:rPr lang="de-CH" sz="800" dirty="0" err="1">
                <a:solidFill>
                  <a:schemeClr val="bg1"/>
                </a:solidFill>
              </a:rPr>
              <a:t>jupyter</a:t>
            </a:r>
            <a:r>
              <a:rPr lang="de-CH" sz="800" dirty="0">
                <a:solidFill>
                  <a:schemeClr val="bg1"/>
                </a:solidFill>
              </a:rPr>
              <a:t> </a:t>
            </a:r>
            <a:r>
              <a:rPr lang="de-CH" sz="800" dirty="0" err="1">
                <a:solidFill>
                  <a:schemeClr val="bg1"/>
                </a:solidFill>
              </a:rPr>
              <a:t>notebook</a:t>
            </a:r>
            <a:r>
              <a:rPr lang="de-CH" sz="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26AC91-BCF9-9DE6-9CE4-41F518393828}"/>
              </a:ext>
            </a:extLst>
          </p:cNvPr>
          <p:cNvSpPr txBox="1"/>
          <p:nvPr/>
        </p:nvSpPr>
        <p:spPr>
          <a:xfrm>
            <a:off x="3344552" y="466241"/>
            <a:ext cx="3201436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bd.projects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de-CH" sz="900" dirty="0">
                <a:latin typeface="+mj-lt"/>
                <a:cs typeface="Courier New" panose="02070309020205020404" pitchFamily="49" charset="0"/>
              </a:rPr>
              <a:t>press </a:t>
            </a:r>
            <a:r>
              <a:rPr lang="de-CH" sz="900" dirty="0" err="1">
                <a:latin typeface="+mj-lt"/>
                <a:cs typeface="Courier New" panose="02070309020205020404" pitchFamily="49" charset="0"/>
              </a:rPr>
              <a:t>tab</a:t>
            </a:r>
            <a:r>
              <a:rPr lang="de-CH" sz="9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shows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you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all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functions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for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project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handling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.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Choose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one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of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them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, and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add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? 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shows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you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how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this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function</a:t>
            </a:r>
            <a:r>
              <a:rPr lang="de-CH" sz="900" dirty="0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works</a:t>
            </a:r>
            <a:endParaRPr lang="de-CH" sz="900" dirty="0">
              <a:latin typeface="+mj-lt"/>
              <a:cs typeface="Courier New" panose="02070309020205020404" pitchFamily="49" charset="0"/>
            </a:endParaRP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list(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bd.projects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e-CH" sz="900" dirty="0"/>
              <a:t> (</a:t>
            </a:r>
            <a:r>
              <a:rPr lang="de-CH" sz="900" dirty="0" err="1"/>
              <a:t>which</a:t>
            </a:r>
            <a:r>
              <a:rPr lang="de-CH" sz="900" dirty="0"/>
              <a:t> </a:t>
            </a:r>
            <a:r>
              <a:rPr lang="de-CH" sz="900" dirty="0" err="1"/>
              <a:t>projects</a:t>
            </a:r>
            <a:r>
              <a:rPr lang="de-CH" sz="900" dirty="0"/>
              <a:t> do I </a:t>
            </a:r>
            <a:r>
              <a:rPr lang="de-CH" sz="900" dirty="0" err="1"/>
              <a:t>have</a:t>
            </a:r>
            <a:r>
              <a:rPr lang="de-CH" sz="900" dirty="0"/>
              <a:t>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bd.projects.dir</a:t>
            </a:r>
            <a:r>
              <a:rPr lang="de-CH" sz="900" dirty="0"/>
              <a:t> (</a:t>
            </a:r>
            <a:r>
              <a:rPr lang="de-CH" sz="900" dirty="0" err="1"/>
              <a:t>where</a:t>
            </a:r>
            <a:r>
              <a:rPr lang="de-CH" sz="900" dirty="0"/>
              <a:t> </a:t>
            </a:r>
            <a:r>
              <a:rPr lang="de-CH" sz="900" dirty="0" err="1"/>
              <a:t>does</a:t>
            </a:r>
            <a:r>
              <a:rPr lang="de-CH" sz="900" dirty="0"/>
              <a:t> </a:t>
            </a:r>
            <a:r>
              <a:rPr lang="de-CH" sz="900" dirty="0" err="1"/>
              <a:t>my</a:t>
            </a:r>
            <a:r>
              <a:rPr lang="de-CH" sz="900" dirty="0"/>
              <a:t> </a:t>
            </a:r>
            <a:r>
              <a:rPr lang="de-CH" sz="900" dirty="0" err="1"/>
              <a:t>current</a:t>
            </a:r>
            <a:r>
              <a:rPr lang="de-CH" sz="900" dirty="0"/>
              <a:t> </a:t>
            </a:r>
            <a:r>
              <a:rPr lang="de-CH" sz="900" dirty="0" err="1"/>
              <a:t>project</a:t>
            </a:r>
            <a:r>
              <a:rPr lang="de-CH" sz="900" dirty="0"/>
              <a:t> </a:t>
            </a:r>
            <a:r>
              <a:rPr lang="de-CH" sz="900" dirty="0" err="1"/>
              <a:t>sit</a:t>
            </a:r>
            <a:r>
              <a:rPr lang="de-CH" sz="900" dirty="0"/>
              <a:t>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bd.projects.report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CH" sz="900" dirty="0"/>
              <a:t>(</a:t>
            </a:r>
            <a:r>
              <a:rPr lang="de-CH" sz="900" dirty="0" err="1"/>
              <a:t>general</a:t>
            </a:r>
            <a:r>
              <a:rPr lang="de-CH" sz="900" dirty="0"/>
              <a:t> </a:t>
            </a:r>
            <a:r>
              <a:rPr lang="de-CH" sz="900" dirty="0" err="1"/>
              <a:t>information</a:t>
            </a:r>
            <a:r>
              <a:rPr lang="de-CH" sz="900" dirty="0"/>
              <a:t>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bd.projects.current</a:t>
            </a:r>
            <a:r>
              <a:rPr lang="de-CH" sz="900" dirty="0"/>
              <a:t> (</a:t>
            </a:r>
            <a:r>
              <a:rPr lang="de-CH" sz="900" dirty="0" err="1"/>
              <a:t>checking</a:t>
            </a:r>
            <a:r>
              <a:rPr lang="de-CH" sz="900" dirty="0"/>
              <a:t> in </a:t>
            </a:r>
            <a:r>
              <a:rPr lang="de-CH" sz="900" dirty="0" err="1"/>
              <a:t>which</a:t>
            </a:r>
            <a:r>
              <a:rPr lang="de-CH" sz="900" dirty="0"/>
              <a:t> </a:t>
            </a:r>
            <a:r>
              <a:rPr lang="de-CH" sz="900" dirty="0" err="1"/>
              <a:t>project</a:t>
            </a:r>
            <a:r>
              <a:rPr lang="de-CH" sz="900" dirty="0"/>
              <a:t> </a:t>
            </a:r>
            <a:r>
              <a:rPr lang="de-CH" sz="900" dirty="0" err="1"/>
              <a:t>you</a:t>
            </a:r>
            <a:r>
              <a:rPr lang="de-CH" sz="900" dirty="0"/>
              <a:t> </a:t>
            </a:r>
            <a:r>
              <a:rPr lang="de-CH" sz="900" dirty="0" err="1"/>
              <a:t>are</a:t>
            </a:r>
            <a:r>
              <a:rPr lang="de-CH" sz="900" dirty="0"/>
              <a:t>)</a:t>
            </a:r>
          </a:p>
          <a:p>
            <a:r>
              <a:rPr lang="de-CH" sz="900" b="1" i="1" dirty="0"/>
              <a:t>Activate </a:t>
            </a:r>
            <a:r>
              <a:rPr lang="de-CH" sz="900" b="1" i="1" dirty="0" err="1"/>
              <a:t>your</a:t>
            </a:r>
            <a:r>
              <a:rPr lang="de-CH" sz="900" b="1" i="1" dirty="0"/>
              <a:t> </a:t>
            </a:r>
            <a:r>
              <a:rPr lang="de-CH" sz="900" b="1" i="1" dirty="0" err="1"/>
              <a:t>project</a:t>
            </a:r>
            <a:r>
              <a:rPr lang="de-CH" sz="900" b="1" i="1" dirty="0"/>
              <a:t>/</a:t>
            </a:r>
            <a:r>
              <a:rPr lang="de-CH" sz="900" b="1" i="1" dirty="0" err="1"/>
              <a:t>create</a:t>
            </a:r>
            <a:r>
              <a:rPr lang="de-CH" sz="900" b="1" i="1" dirty="0"/>
              <a:t> </a:t>
            </a:r>
            <a:r>
              <a:rPr lang="de-CH" sz="900" b="1" i="1" dirty="0" err="1"/>
              <a:t>one</a:t>
            </a:r>
            <a:endParaRPr lang="de-CH" sz="900" b="1" i="1" dirty="0"/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a.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bd.projects.set_current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myproject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e-CH" sz="800" dirty="0"/>
              <a:t> (</a:t>
            </a:r>
            <a:r>
              <a:rPr lang="de-CH" sz="800" dirty="0" err="1"/>
              <a:t>activates</a:t>
            </a:r>
            <a:r>
              <a:rPr lang="de-CH" sz="800" dirty="0"/>
              <a:t> </a:t>
            </a:r>
            <a:r>
              <a:rPr lang="de-CH" sz="800" dirty="0" err="1"/>
              <a:t>myproject</a:t>
            </a:r>
            <a:r>
              <a:rPr lang="de-CH" sz="800" dirty="0"/>
              <a:t>, and </a:t>
            </a:r>
            <a:r>
              <a:rPr lang="de-CH" sz="800" dirty="0" err="1"/>
              <a:t>creates</a:t>
            </a:r>
            <a:r>
              <a:rPr lang="de-CH" sz="800" dirty="0"/>
              <a:t> </a:t>
            </a:r>
            <a:r>
              <a:rPr lang="de-CH" sz="800" dirty="0" err="1"/>
              <a:t>it</a:t>
            </a:r>
            <a:r>
              <a:rPr lang="de-CH" sz="800" dirty="0"/>
              <a:t> </a:t>
            </a:r>
            <a:r>
              <a:rPr lang="de-CH" sz="800" dirty="0" err="1"/>
              <a:t>first</a:t>
            </a:r>
            <a:r>
              <a:rPr lang="de-CH" sz="800" dirty="0"/>
              <a:t> </a:t>
            </a:r>
            <a:r>
              <a:rPr lang="de-CH" sz="800" dirty="0" err="1"/>
              <a:t>if</a:t>
            </a:r>
            <a:r>
              <a:rPr lang="de-CH" sz="800" dirty="0"/>
              <a:t> </a:t>
            </a:r>
            <a:r>
              <a:rPr lang="de-CH" sz="800" dirty="0" err="1"/>
              <a:t>it</a:t>
            </a:r>
            <a:r>
              <a:rPr lang="de-CH" sz="800" dirty="0"/>
              <a:t> </a:t>
            </a:r>
            <a:r>
              <a:rPr lang="de-CH" sz="800" dirty="0" err="1"/>
              <a:t>doesn't</a:t>
            </a:r>
            <a:r>
              <a:rPr lang="de-CH" sz="800" dirty="0"/>
              <a:t> </a:t>
            </a:r>
            <a:r>
              <a:rPr lang="de-CH" sz="800" dirty="0" err="1"/>
              <a:t>exist</a:t>
            </a:r>
            <a:r>
              <a:rPr lang="de-CH" sz="800" dirty="0"/>
              <a:t> </a:t>
            </a:r>
            <a:r>
              <a:rPr lang="de-CH" sz="800" dirty="0" err="1"/>
              <a:t>yet</a:t>
            </a:r>
            <a:r>
              <a:rPr lang="de-CH" sz="800" dirty="0"/>
              <a:t>)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b.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bd.projects.create_project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myproject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e-CH" sz="900" dirty="0"/>
              <a:t> </a:t>
            </a:r>
            <a:r>
              <a:rPr lang="de-CH" sz="800" dirty="0"/>
              <a:t>(</a:t>
            </a:r>
            <a:r>
              <a:rPr lang="de-CH" sz="800" dirty="0" err="1"/>
              <a:t>creates</a:t>
            </a:r>
            <a:r>
              <a:rPr lang="de-CH" sz="800" dirty="0"/>
              <a:t> </a:t>
            </a:r>
            <a:r>
              <a:rPr lang="de-CH" sz="800" dirty="0" err="1"/>
              <a:t>project</a:t>
            </a:r>
            <a:r>
              <a:rPr lang="de-CH" sz="800" dirty="0"/>
              <a:t>, but </a:t>
            </a:r>
            <a:r>
              <a:rPr lang="de-CH" sz="800" dirty="0" err="1"/>
              <a:t>you</a:t>
            </a:r>
            <a:r>
              <a:rPr lang="de-CH" sz="800" dirty="0"/>
              <a:t> </a:t>
            </a:r>
            <a:r>
              <a:rPr lang="de-CH" sz="800" dirty="0" err="1"/>
              <a:t>remain</a:t>
            </a:r>
            <a:r>
              <a:rPr lang="de-CH" sz="800" dirty="0"/>
              <a:t> in </a:t>
            </a:r>
            <a:r>
              <a:rPr lang="de-CH" sz="800" dirty="0" err="1"/>
              <a:t>your</a:t>
            </a:r>
            <a:r>
              <a:rPr lang="de-CH" sz="800" dirty="0"/>
              <a:t> </a:t>
            </a:r>
            <a:r>
              <a:rPr lang="de-CH" sz="800" dirty="0" err="1"/>
              <a:t>current</a:t>
            </a:r>
            <a:r>
              <a:rPr lang="de-CH" sz="800" dirty="0"/>
              <a:t> </a:t>
            </a:r>
            <a:r>
              <a:rPr lang="de-CH" sz="800" dirty="0" err="1"/>
              <a:t>project</a:t>
            </a:r>
            <a:r>
              <a:rPr lang="de-CH" sz="800" dirty="0"/>
              <a:t>) </a:t>
            </a:r>
            <a:endParaRPr lang="de-CH" sz="800" i="1" dirty="0"/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b. </a:t>
            </a:r>
            <a:r>
              <a:rPr lang="de-CH" sz="900" b="1" i="1" dirty="0" err="1"/>
              <a:t>Rename</a:t>
            </a:r>
            <a:r>
              <a:rPr lang="de-CH" sz="900" b="1" i="1" dirty="0"/>
              <a:t>/Copy/Delete a </a:t>
            </a:r>
            <a:r>
              <a:rPr lang="de-CH" sz="900" b="1" i="1" dirty="0" err="1"/>
              <a:t>project</a:t>
            </a:r>
            <a:endParaRPr lang="de-CH" sz="900" b="1" i="1" dirty="0"/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bd.projects.rename_project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(‘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bd.projects.copy_project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newname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switch=True)</a:t>
            </a:r>
            <a:r>
              <a:rPr lang="de-CH" sz="900" dirty="0"/>
              <a:t> (</a:t>
            </a:r>
            <a:r>
              <a:rPr lang="de-CH" sz="900" dirty="0" err="1"/>
              <a:t>copies</a:t>
            </a:r>
            <a:r>
              <a:rPr lang="de-CH" sz="900" dirty="0"/>
              <a:t> </a:t>
            </a:r>
            <a:r>
              <a:rPr lang="de-CH" sz="900" dirty="0" err="1"/>
              <a:t>the</a:t>
            </a:r>
            <a:r>
              <a:rPr lang="de-CH" sz="900" dirty="0"/>
              <a:t> </a:t>
            </a:r>
            <a:r>
              <a:rPr lang="de-CH" sz="900" dirty="0" err="1"/>
              <a:t>current</a:t>
            </a:r>
            <a:r>
              <a:rPr lang="de-CH" sz="900" dirty="0"/>
              <a:t> </a:t>
            </a:r>
            <a:r>
              <a:rPr lang="de-CH" sz="900" dirty="0" err="1"/>
              <a:t>project</a:t>
            </a:r>
            <a:r>
              <a:rPr lang="de-CH" sz="900" dirty="0"/>
              <a:t>, and </a:t>
            </a:r>
            <a:r>
              <a:rPr lang="de-CH" sz="900" dirty="0" err="1"/>
              <a:t>if</a:t>
            </a:r>
            <a:r>
              <a:rPr lang="de-CH" sz="900" dirty="0"/>
              <a:t> </a:t>
            </a:r>
            <a:r>
              <a:rPr lang="de-CH" sz="900" dirty="0" err="1"/>
              <a:t>you</a:t>
            </a:r>
            <a:r>
              <a:rPr lang="de-CH" sz="900" dirty="0"/>
              <a:t> </a:t>
            </a:r>
            <a:r>
              <a:rPr lang="de-CH" sz="900" dirty="0" err="1"/>
              <a:t>add</a:t>
            </a:r>
            <a:r>
              <a:rPr lang="de-CH" sz="900" dirty="0"/>
              <a:t> </a:t>
            </a:r>
            <a:r>
              <a:rPr lang="de-CH" sz="900" dirty="0" err="1"/>
              <a:t>the</a:t>
            </a:r>
            <a:r>
              <a:rPr lang="de-CH" sz="900" dirty="0"/>
              <a:t> «switch=True» </a:t>
            </a:r>
            <a:r>
              <a:rPr lang="de-CH" sz="900" dirty="0" err="1"/>
              <a:t>it</a:t>
            </a:r>
            <a:r>
              <a:rPr lang="de-CH" sz="900" dirty="0"/>
              <a:t> </a:t>
            </a:r>
            <a:r>
              <a:rPr lang="de-CH" sz="900" dirty="0" err="1"/>
              <a:t>switches</a:t>
            </a:r>
            <a:r>
              <a:rPr lang="de-CH" sz="900" dirty="0"/>
              <a:t> </a:t>
            </a:r>
            <a:r>
              <a:rPr lang="de-CH" sz="900" dirty="0" err="1"/>
              <a:t>to</a:t>
            </a:r>
            <a:r>
              <a:rPr lang="de-CH" sz="900" dirty="0"/>
              <a:t> </a:t>
            </a:r>
            <a:r>
              <a:rPr lang="de-CH" sz="900" dirty="0" err="1"/>
              <a:t>this</a:t>
            </a:r>
            <a:r>
              <a:rPr lang="de-CH" sz="900" dirty="0"/>
              <a:t> </a:t>
            </a:r>
            <a:r>
              <a:rPr lang="de-CH" sz="900" dirty="0" err="1"/>
              <a:t>new</a:t>
            </a:r>
            <a:r>
              <a:rPr lang="de-CH" sz="900" dirty="0"/>
              <a:t> </a:t>
            </a:r>
            <a:r>
              <a:rPr lang="de-CH" sz="900" dirty="0" err="1"/>
              <a:t>copy</a:t>
            </a:r>
            <a:r>
              <a:rPr lang="de-CH" sz="900" dirty="0"/>
              <a:t>.)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bd.projects.delete_project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myproject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delete_dir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=True) </a:t>
            </a:r>
            <a:r>
              <a:rPr lang="de-CH" sz="900" dirty="0"/>
              <a:t>(</a:t>
            </a:r>
            <a:r>
              <a:rPr lang="de-CH" sz="900" dirty="0" err="1"/>
              <a:t>deletes</a:t>
            </a:r>
            <a:r>
              <a:rPr lang="de-CH" sz="900" dirty="0"/>
              <a:t> </a:t>
            </a:r>
            <a:r>
              <a:rPr lang="de-CH" sz="900" dirty="0" err="1"/>
              <a:t>myproject</a:t>
            </a:r>
            <a:r>
              <a:rPr lang="de-CH" sz="900" dirty="0"/>
              <a:t>, and also </a:t>
            </a:r>
            <a:r>
              <a:rPr lang="de-CH" sz="900" dirty="0" err="1"/>
              <a:t>deletes</a:t>
            </a:r>
            <a:r>
              <a:rPr lang="de-CH" sz="900" dirty="0"/>
              <a:t> </a:t>
            </a:r>
            <a:r>
              <a:rPr lang="de-CH" sz="900" dirty="0" err="1"/>
              <a:t>it</a:t>
            </a:r>
            <a:r>
              <a:rPr lang="de-CH" sz="900" dirty="0"/>
              <a:t> </a:t>
            </a:r>
            <a:r>
              <a:rPr lang="de-CH" sz="900" dirty="0" err="1"/>
              <a:t>from</a:t>
            </a:r>
            <a:r>
              <a:rPr lang="de-CH" sz="900" dirty="0"/>
              <a:t> </a:t>
            </a:r>
            <a:r>
              <a:rPr lang="de-CH" sz="900" dirty="0" err="1"/>
              <a:t>your</a:t>
            </a:r>
            <a:r>
              <a:rPr lang="de-CH" sz="900" dirty="0"/>
              <a:t> </a:t>
            </a:r>
            <a:r>
              <a:rPr lang="de-CH" sz="900" dirty="0" err="1"/>
              <a:t>computer</a:t>
            </a:r>
            <a:r>
              <a:rPr lang="de-CH" sz="900" dirty="0"/>
              <a:t> </a:t>
            </a:r>
            <a:r>
              <a:rPr lang="de-CH" sz="900" dirty="0" err="1"/>
              <a:t>directory</a:t>
            </a:r>
            <a:r>
              <a:rPr lang="de-CH" sz="900" dirty="0"/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8A735D-12F8-B386-0DD1-E362622826F6}"/>
              </a:ext>
            </a:extLst>
          </p:cNvPr>
          <p:cNvSpPr txBox="1"/>
          <p:nvPr/>
        </p:nvSpPr>
        <p:spPr>
          <a:xfrm>
            <a:off x="6653526" y="274193"/>
            <a:ext cx="301878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488AA5-A24B-1780-F687-820946114D93}"/>
              </a:ext>
            </a:extLst>
          </p:cNvPr>
          <p:cNvSpPr txBox="1"/>
          <p:nvPr/>
        </p:nvSpPr>
        <p:spPr>
          <a:xfrm>
            <a:off x="6955404" y="259295"/>
            <a:ext cx="2646947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1000" dirty="0">
                <a:solidFill>
                  <a:schemeClr val="bg1"/>
                </a:solidFill>
              </a:rPr>
              <a:t>Import </a:t>
            </a:r>
            <a:r>
              <a:rPr lang="de-CH" sz="1000" dirty="0" err="1">
                <a:solidFill>
                  <a:schemeClr val="bg1"/>
                </a:solidFill>
              </a:rPr>
              <a:t>databases</a:t>
            </a:r>
            <a:r>
              <a:rPr lang="de-CH" sz="1000" dirty="0">
                <a:solidFill>
                  <a:schemeClr val="bg1"/>
                </a:solidFill>
              </a:rPr>
              <a:t> – own </a:t>
            </a:r>
            <a:r>
              <a:rPr lang="de-CH" sz="1000" dirty="0" err="1">
                <a:solidFill>
                  <a:schemeClr val="bg1"/>
                </a:solidFill>
              </a:rPr>
              <a:t>data</a:t>
            </a:r>
            <a:endParaRPr lang="de-CH" sz="100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C92393-2515-A3AA-B3B8-A0773ECF9F8F}"/>
              </a:ext>
            </a:extLst>
          </p:cNvPr>
          <p:cNvSpPr txBox="1"/>
          <p:nvPr/>
        </p:nvSpPr>
        <p:spPr>
          <a:xfrm>
            <a:off x="6556037" y="464267"/>
            <a:ext cx="3206074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b="1" i="1" dirty="0" err="1"/>
              <a:t>Your</a:t>
            </a:r>
            <a:r>
              <a:rPr lang="de-CH" sz="900" b="1" i="1" dirty="0"/>
              <a:t> own LCI </a:t>
            </a:r>
            <a:r>
              <a:rPr lang="de-CH" sz="900" b="1" i="1" dirty="0" err="1"/>
              <a:t>from</a:t>
            </a:r>
            <a:r>
              <a:rPr lang="de-CH" sz="900" b="1" i="1" dirty="0"/>
              <a:t> an </a:t>
            </a:r>
            <a:r>
              <a:rPr lang="de-CH" sz="900" b="1" i="1" dirty="0" err="1"/>
              <a:t>excel</a:t>
            </a:r>
            <a:r>
              <a:rPr lang="de-CH" sz="900" b="1" i="1" dirty="0"/>
              <a:t> </a:t>
            </a:r>
            <a:r>
              <a:rPr lang="de-CH" sz="900" b="1" i="1" dirty="0" err="1"/>
              <a:t>sheet</a:t>
            </a:r>
            <a:endParaRPr lang="de-CH" sz="900" b="1" i="1" dirty="0"/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bi.ExcelImporter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r'C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:\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yourpath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imp.apply_strategies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imp.match_database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(‘ev311cutoff',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=('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’, ‘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’, 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'))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imp.statistics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CH" sz="900" dirty="0" err="1"/>
              <a:t>Which</a:t>
            </a:r>
            <a:r>
              <a:rPr lang="de-CH" sz="900" dirty="0"/>
              <a:t> </a:t>
            </a:r>
            <a:r>
              <a:rPr lang="de-CH" sz="900" dirty="0" err="1"/>
              <a:t>are</a:t>
            </a:r>
            <a:r>
              <a:rPr lang="de-CH" sz="900" dirty="0"/>
              <a:t> </a:t>
            </a:r>
            <a:r>
              <a:rPr lang="de-CH" sz="900" dirty="0" err="1"/>
              <a:t>the</a:t>
            </a:r>
            <a:r>
              <a:rPr lang="de-CH" sz="900" dirty="0"/>
              <a:t> </a:t>
            </a:r>
            <a:r>
              <a:rPr lang="de-CH" sz="900" dirty="0" err="1"/>
              <a:t>unlinked</a:t>
            </a:r>
            <a:r>
              <a:rPr lang="de-CH" sz="900" dirty="0"/>
              <a:t> </a:t>
            </a:r>
            <a:r>
              <a:rPr lang="de-CH" sz="900" dirty="0" err="1"/>
              <a:t>flows</a:t>
            </a:r>
            <a:r>
              <a:rPr lang="de-CH" sz="900" dirty="0"/>
              <a:t>? </a:t>
            </a:r>
            <a:r>
              <a:rPr lang="de-CH" sz="900" dirty="0">
                <a:sym typeface="Wingdings" panose="05000000000000000000" pitchFamily="2" charset="2"/>
              </a:rPr>
              <a:t>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list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imp.unlinked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</a:t>
            </a:r>
            <a:r>
              <a:rPr lang="de-CH" sz="900" dirty="0">
                <a:sym typeface="Wingdings" panose="05000000000000000000" pitchFamily="2" charset="2"/>
              </a:rPr>
              <a:t> </a:t>
            </a:r>
            <a:r>
              <a:rPr lang="de-CH" sz="900" i="1" dirty="0" err="1">
                <a:sym typeface="Wingdings" panose="05000000000000000000" pitchFamily="2" charset="2"/>
              </a:rPr>
              <a:t>or</a:t>
            </a:r>
            <a:r>
              <a:rPr lang="de-CH" sz="900" dirty="0">
                <a:sym typeface="Wingdings" panose="05000000000000000000" pitchFamily="2" charset="2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mp.write_excel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#(only_unlinked=True)</a:t>
            </a:r>
          </a:p>
          <a:p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Normally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,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you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MUST find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the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error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leading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to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the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unliked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flow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.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Usually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it’s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typos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,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wrong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geographies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/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databases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etc. </a:t>
            </a:r>
          </a:p>
          <a:p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If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you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KNOW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that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you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don’t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need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it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,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you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can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do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this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: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imp.drop_unlinked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i_am_reckless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In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the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end,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write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the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database</a:t>
            </a:r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imp.write_database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It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is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good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practice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to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do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few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quick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checks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to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see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if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the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db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is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functional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: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length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, do LCA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calc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8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CH" sz="8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see</a:t>
            </a:r>
            <a:r>
              <a:rPr lang="de-CH" sz="8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8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next</a:t>
            </a:r>
            <a:r>
              <a:rPr lang="de-CH" sz="8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8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page</a:t>
            </a:r>
            <a:r>
              <a:rPr lang="de-CH" sz="8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8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of</a:t>
            </a:r>
            <a:r>
              <a:rPr lang="de-CH" sz="8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8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cheatsheet</a:t>
            </a:r>
            <a:r>
              <a:rPr lang="de-CH" sz="8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8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for</a:t>
            </a:r>
            <a:r>
              <a:rPr lang="de-CH" sz="8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8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this</a:t>
            </a:r>
            <a:r>
              <a:rPr lang="de-CH" sz="8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)</a:t>
            </a:r>
            <a:endParaRPr lang="de-CH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b="1" i="1" dirty="0" err="1"/>
              <a:t>SimaPro</a:t>
            </a:r>
            <a:r>
              <a:rPr lang="de-CH" sz="900" b="1" i="1" dirty="0"/>
              <a:t>/</a:t>
            </a:r>
            <a:r>
              <a:rPr lang="de-CH" sz="900" b="1" i="1" dirty="0" err="1"/>
              <a:t>openLCA</a:t>
            </a:r>
            <a:r>
              <a:rPr lang="de-CH" sz="900" b="1" i="1" dirty="0"/>
              <a:t> </a:t>
            </a:r>
            <a:r>
              <a:rPr lang="de-CH" sz="900" b="1" i="1" dirty="0" err="1"/>
              <a:t>datasets</a:t>
            </a:r>
            <a:r>
              <a:rPr lang="de-CH" sz="900" b="1" i="1" dirty="0"/>
              <a:t> – not </a:t>
            </a:r>
            <a:r>
              <a:rPr lang="de-CH" sz="900" b="1" i="1" dirty="0" err="1"/>
              <a:t>painless</a:t>
            </a:r>
            <a:r>
              <a:rPr lang="de-CH" sz="900" b="1" i="1" dirty="0"/>
              <a:t> </a:t>
            </a:r>
            <a:r>
              <a:rPr lang="de-CH" sz="900" b="1" i="1" dirty="0" err="1"/>
              <a:t>yet</a:t>
            </a:r>
            <a:r>
              <a:rPr lang="de-CH" sz="900" b="1" i="1" dirty="0"/>
              <a:t> but </a:t>
            </a:r>
            <a:r>
              <a:rPr lang="de-CH" sz="900" b="1" i="1" dirty="0" err="1"/>
              <a:t>soon</a:t>
            </a:r>
            <a:r>
              <a:rPr lang="de-CH" sz="900" b="1" i="1" dirty="0"/>
              <a:t> </a:t>
            </a:r>
            <a:r>
              <a:rPr lang="de-CH" sz="900" b="1" i="1" dirty="0" err="1"/>
              <a:t>easier</a:t>
            </a:r>
            <a:endParaRPr lang="de-CH" sz="900" b="1" i="1" dirty="0"/>
          </a:p>
          <a:p>
            <a:r>
              <a:rPr lang="de-CH" sz="800" dirty="0" err="1">
                <a:latin typeface="Calibri body"/>
                <a:cs typeface="Courier New" panose="020703090202050204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SP:</a:t>
            </a:r>
            <a:r>
              <a:rPr lang="de-CH" sz="800" dirty="0" err="1">
                <a:solidFill>
                  <a:srgbClr val="0563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</a:t>
            </a:r>
            <a:r>
              <a:rPr lang="de-CH" sz="800" dirty="0">
                <a:solidFill>
                  <a:srgbClr val="0563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://github.com/</a:t>
            </a:r>
            <a:r>
              <a:rPr lang="de-CH" sz="800" dirty="0" err="1">
                <a:solidFill>
                  <a:srgbClr val="0563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romainsacchi</a:t>
            </a:r>
            <a:r>
              <a:rPr lang="de-CH" sz="800" dirty="0">
                <a:solidFill>
                  <a:srgbClr val="0563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CH" sz="800" dirty="0" err="1">
                <a:solidFill>
                  <a:srgbClr val="0563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brightpath</a:t>
            </a:r>
            <a:endParaRPr lang="de-CH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800" dirty="0" err="1">
                <a:latin typeface="Calibri body"/>
                <a:cs typeface="Courier New" panose="020703090202050204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oLCA</a:t>
            </a:r>
            <a:r>
              <a:rPr lang="de-CH" sz="800" dirty="0" err="1">
                <a:solidFill>
                  <a:srgbClr val="0563C1"/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:https</a:t>
            </a:r>
            <a:r>
              <a:rPr lang="de-CH" sz="800" dirty="0">
                <a:solidFill>
                  <a:srgbClr val="0563C1"/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://github.com/cyrillefrancois/openlca2bw</a:t>
            </a:r>
            <a:endParaRPr lang="de-CH" sz="800" dirty="0">
              <a:solidFill>
                <a:srgbClr val="0563C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00EE3B-77F0-AF77-A93E-C06EA74D7013}"/>
              </a:ext>
            </a:extLst>
          </p:cNvPr>
          <p:cNvSpPr txBox="1"/>
          <p:nvPr/>
        </p:nvSpPr>
        <p:spPr>
          <a:xfrm>
            <a:off x="6614000" y="4201591"/>
            <a:ext cx="301878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A087DB-959B-639C-4C3D-B6422CC4D332}"/>
              </a:ext>
            </a:extLst>
          </p:cNvPr>
          <p:cNvSpPr txBox="1"/>
          <p:nvPr/>
        </p:nvSpPr>
        <p:spPr>
          <a:xfrm>
            <a:off x="6915878" y="4201591"/>
            <a:ext cx="2646947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1000" dirty="0" err="1">
                <a:solidFill>
                  <a:schemeClr val="bg1"/>
                </a:solidFill>
              </a:rPr>
              <a:t>Activity</a:t>
            </a:r>
            <a:r>
              <a:rPr lang="de-CH" sz="1000" dirty="0">
                <a:solidFill>
                  <a:schemeClr val="bg1"/>
                </a:solidFill>
              </a:rPr>
              <a:t> Browser – </a:t>
            </a:r>
            <a:r>
              <a:rPr lang="de-CH" sz="1000" dirty="0" err="1">
                <a:solidFill>
                  <a:schemeClr val="bg1"/>
                </a:solidFill>
              </a:rPr>
              <a:t>installation</a:t>
            </a:r>
            <a:r>
              <a:rPr lang="de-CH" sz="1000" dirty="0">
                <a:solidFill>
                  <a:schemeClr val="bg1"/>
                </a:solidFill>
              </a:rPr>
              <a:t> &amp; </a:t>
            </a:r>
            <a:r>
              <a:rPr lang="de-CH" sz="1000" dirty="0" err="1">
                <a:solidFill>
                  <a:schemeClr val="bg1"/>
                </a:solidFill>
              </a:rPr>
              <a:t>opening</a:t>
            </a:r>
            <a:endParaRPr lang="de-CH" sz="10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1303C2-29DD-F915-3FCB-C03DAE8B8538}"/>
              </a:ext>
            </a:extLst>
          </p:cNvPr>
          <p:cNvSpPr txBox="1"/>
          <p:nvPr/>
        </p:nvSpPr>
        <p:spPr>
          <a:xfrm>
            <a:off x="6545988" y="4411178"/>
            <a:ext cx="3016837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800" dirty="0"/>
              <a:t>Create </a:t>
            </a:r>
            <a:r>
              <a:rPr lang="de-CH" sz="800" dirty="0" err="1"/>
              <a:t>projects</a:t>
            </a:r>
            <a:r>
              <a:rPr lang="de-CH" sz="800" dirty="0"/>
              <a:t>, </a:t>
            </a:r>
            <a:r>
              <a:rPr lang="de-CH" sz="800" dirty="0" err="1"/>
              <a:t>import</a:t>
            </a:r>
            <a:r>
              <a:rPr lang="de-CH" sz="800" dirty="0"/>
              <a:t> </a:t>
            </a:r>
            <a:r>
              <a:rPr lang="de-CH" sz="800" dirty="0" err="1"/>
              <a:t>databases</a:t>
            </a:r>
            <a:r>
              <a:rPr lang="de-CH" sz="800" dirty="0"/>
              <a:t>, </a:t>
            </a:r>
            <a:r>
              <a:rPr lang="de-CH" sz="800" dirty="0" err="1"/>
              <a:t>look</a:t>
            </a:r>
            <a:r>
              <a:rPr lang="de-CH" sz="800" dirty="0"/>
              <a:t> at </a:t>
            </a:r>
            <a:r>
              <a:rPr lang="de-CH" sz="800" dirty="0" err="1"/>
              <a:t>the</a:t>
            </a:r>
            <a:r>
              <a:rPr lang="de-CH" sz="800" dirty="0"/>
              <a:t> </a:t>
            </a:r>
            <a:r>
              <a:rPr lang="de-CH" sz="800" dirty="0" err="1"/>
              <a:t>databases</a:t>
            </a:r>
            <a:r>
              <a:rPr lang="de-CH" sz="800" dirty="0"/>
              <a:t>, </a:t>
            </a:r>
            <a:r>
              <a:rPr lang="de-CH" sz="800" dirty="0" err="1"/>
              <a:t>create</a:t>
            </a:r>
            <a:r>
              <a:rPr lang="de-CH" sz="800" dirty="0"/>
              <a:t> own </a:t>
            </a:r>
            <a:r>
              <a:rPr lang="de-CH" sz="800" dirty="0" err="1"/>
              <a:t>datasets</a:t>
            </a:r>
            <a:r>
              <a:rPr lang="de-CH" sz="800" dirty="0"/>
              <a:t>, do LCIA </a:t>
            </a:r>
            <a:r>
              <a:rPr lang="de-CH" sz="800" dirty="0" err="1"/>
              <a:t>calculations</a:t>
            </a:r>
            <a:r>
              <a:rPr lang="de-CH" sz="800" dirty="0"/>
              <a:t> – and </a:t>
            </a:r>
            <a:r>
              <a:rPr lang="de-CH" sz="800" dirty="0" err="1"/>
              <a:t>many</a:t>
            </a:r>
            <a:r>
              <a:rPr lang="de-CH" sz="800" dirty="0"/>
              <a:t> </a:t>
            </a:r>
            <a:r>
              <a:rPr lang="de-CH" sz="800" dirty="0" err="1"/>
              <a:t>helpful</a:t>
            </a:r>
            <a:r>
              <a:rPr lang="de-CH" sz="800" dirty="0"/>
              <a:t> </a:t>
            </a:r>
            <a:r>
              <a:rPr lang="de-CH" sz="800" dirty="0" err="1"/>
              <a:t>things</a:t>
            </a:r>
            <a:r>
              <a:rPr lang="de-CH" sz="800" dirty="0"/>
              <a:t> </a:t>
            </a:r>
            <a:r>
              <a:rPr lang="de-CH" sz="800" dirty="0" err="1"/>
              <a:t>more</a:t>
            </a:r>
            <a:r>
              <a:rPr lang="de-CH" sz="800" dirty="0"/>
              <a:t>! </a:t>
            </a:r>
          </a:p>
          <a:p>
            <a:r>
              <a:rPr lang="de-CH" sz="800" dirty="0" err="1"/>
              <a:t>Recommendation</a:t>
            </a:r>
            <a:r>
              <a:rPr lang="de-CH" sz="800" dirty="0"/>
              <a:t>: Set </a:t>
            </a:r>
            <a:r>
              <a:rPr lang="de-CH" sz="800" dirty="0" err="1"/>
              <a:t>up</a:t>
            </a:r>
            <a:r>
              <a:rPr lang="de-CH" sz="800" dirty="0"/>
              <a:t> </a:t>
            </a:r>
            <a:r>
              <a:rPr lang="de-CH" sz="800" dirty="0" err="1"/>
              <a:t>your</a:t>
            </a:r>
            <a:r>
              <a:rPr lang="de-CH" sz="800" dirty="0"/>
              <a:t> own LCI in a </a:t>
            </a:r>
            <a:r>
              <a:rPr lang="de-CH" sz="800" dirty="0" err="1"/>
              <a:t>spreadsheet</a:t>
            </a:r>
            <a:r>
              <a:rPr lang="de-CH" sz="800" dirty="0"/>
              <a:t> (</a:t>
            </a:r>
            <a:r>
              <a:rPr lang="de-CH" sz="800" dirty="0" err="1"/>
              <a:t>reproducibility</a:t>
            </a:r>
            <a:r>
              <a:rPr lang="de-CH" sz="800" dirty="0"/>
              <a:t>, e.g. </a:t>
            </a:r>
            <a:r>
              <a:rPr lang="de-CH" sz="800" dirty="0" err="1"/>
              <a:t>linking</a:t>
            </a:r>
            <a:r>
              <a:rPr lang="de-CH" sz="800" dirty="0"/>
              <a:t> </a:t>
            </a:r>
            <a:r>
              <a:rPr lang="de-CH" sz="800" dirty="0" err="1"/>
              <a:t>to</a:t>
            </a:r>
            <a:r>
              <a:rPr lang="de-CH" sz="800" dirty="0"/>
              <a:t> original </a:t>
            </a:r>
            <a:r>
              <a:rPr lang="de-CH" sz="800" dirty="0" err="1"/>
              <a:t>data&amp;calculations</a:t>
            </a:r>
            <a:r>
              <a:rPr lang="de-CH" sz="800" dirty="0"/>
              <a:t>) and </a:t>
            </a:r>
            <a:r>
              <a:rPr lang="de-CH" sz="800" dirty="0" err="1"/>
              <a:t>import</a:t>
            </a:r>
            <a:r>
              <a:rPr lang="de-CH" sz="800" dirty="0"/>
              <a:t> it. </a:t>
            </a:r>
            <a:r>
              <a:rPr lang="de-CH" sz="800" dirty="0" err="1"/>
              <a:t>If</a:t>
            </a:r>
            <a:r>
              <a:rPr lang="de-CH" sz="800" dirty="0"/>
              <a:t> </a:t>
            </a:r>
            <a:r>
              <a:rPr lang="de-CH" sz="800" dirty="0" err="1"/>
              <a:t>database</a:t>
            </a:r>
            <a:r>
              <a:rPr lang="de-CH" sz="800" dirty="0"/>
              <a:t> </a:t>
            </a:r>
            <a:r>
              <a:rPr lang="de-CH" sz="800" dirty="0" err="1"/>
              <a:t>imports</a:t>
            </a:r>
            <a:r>
              <a:rPr lang="de-CH" sz="800" dirty="0"/>
              <a:t> </a:t>
            </a:r>
            <a:r>
              <a:rPr lang="de-CH" sz="800" dirty="0" err="1"/>
              <a:t>fails</a:t>
            </a:r>
            <a:r>
              <a:rPr lang="de-CH" sz="800" dirty="0"/>
              <a:t> in AB, </a:t>
            </a:r>
            <a:r>
              <a:rPr lang="de-CH" sz="800" dirty="0" err="1"/>
              <a:t>it</a:t>
            </a:r>
            <a:r>
              <a:rPr lang="de-CH" sz="800" dirty="0"/>
              <a:t> </a:t>
            </a:r>
            <a:r>
              <a:rPr lang="de-CH" sz="800" dirty="0" err="1"/>
              <a:t>may</a:t>
            </a:r>
            <a:r>
              <a:rPr lang="de-CH" sz="800" dirty="0"/>
              <a:t> </a:t>
            </a:r>
            <a:r>
              <a:rPr lang="de-CH" sz="800" dirty="0" err="1"/>
              <a:t>be</a:t>
            </a:r>
            <a:r>
              <a:rPr lang="de-CH" sz="800" dirty="0"/>
              <a:t> </a:t>
            </a:r>
            <a:r>
              <a:rPr lang="de-CH" sz="800" dirty="0" err="1"/>
              <a:t>easier</a:t>
            </a:r>
            <a:r>
              <a:rPr lang="de-CH" sz="800" dirty="0"/>
              <a:t> </a:t>
            </a:r>
            <a:r>
              <a:rPr lang="de-CH" sz="800" dirty="0" err="1"/>
              <a:t>to</a:t>
            </a:r>
            <a:r>
              <a:rPr lang="de-CH" sz="800" dirty="0"/>
              <a:t> do </a:t>
            </a:r>
            <a:r>
              <a:rPr lang="de-CH" sz="800" dirty="0" err="1"/>
              <a:t>the</a:t>
            </a:r>
            <a:r>
              <a:rPr lang="de-CH" sz="800" dirty="0"/>
              <a:t> </a:t>
            </a:r>
            <a:r>
              <a:rPr lang="de-CH" sz="800" dirty="0" err="1"/>
              <a:t>import</a:t>
            </a:r>
            <a:r>
              <a:rPr lang="de-CH" sz="800" dirty="0"/>
              <a:t> via a </a:t>
            </a:r>
            <a:r>
              <a:rPr lang="de-CH" sz="800" dirty="0" err="1"/>
              <a:t>jupyter</a:t>
            </a:r>
            <a:r>
              <a:rPr lang="de-CH" sz="800" dirty="0"/>
              <a:t> </a:t>
            </a:r>
            <a:r>
              <a:rPr lang="de-CH" sz="800" dirty="0" err="1"/>
              <a:t>notebook</a:t>
            </a:r>
            <a:r>
              <a:rPr lang="de-CH" sz="800" dirty="0"/>
              <a:t>, </a:t>
            </a:r>
            <a:r>
              <a:rPr lang="de-CH" sz="800" dirty="0" err="1"/>
              <a:t>because</a:t>
            </a:r>
            <a:r>
              <a:rPr lang="de-CH" sz="800" dirty="0"/>
              <a:t> </a:t>
            </a:r>
            <a:r>
              <a:rPr lang="de-CH" sz="800" dirty="0" err="1"/>
              <a:t>you</a:t>
            </a:r>
            <a:r>
              <a:rPr lang="de-CH" sz="800" dirty="0"/>
              <a:t> </a:t>
            </a:r>
            <a:r>
              <a:rPr lang="de-CH" sz="800" dirty="0" err="1"/>
              <a:t>can</a:t>
            </a:r>
            <a:r>
              <a:rPr lang="de-CH" sz="800" dirty="0"/>
              <a:t> </a:t>
            </a:r>
            <a:r>
              <a:rPr lang="de-CH" sz="800" dirty="0" err="1"/>
              <a:t>identify</a:t>
            </a:r>
            <a:r>
              <a:rPr lang="de-CH" sz="800" dirty="0"/>
              <a:t> </a:t>
            </a:r>
            <a:r>
              <a:rPr lang="de-CH" sz="800" dirty="0" err="1"/>
              <a:t>unlinked</a:t>
            </a:r>
            <a:r>
              <a:rPr lang="de-CH" sz="800" dirty="0"/>
              <a:t> </a:t>
            </a:r>
            <a:r>
              <a:rPr lang="de-CH" sz="800" dirty="0" err="1"/>
              <a:t>exchanges</a:t>
            </a:r>
            <a:r>
              <a:rPr lang="de-CH" sz="800" dirty="0"/>
              <a:t>. But </a:t>
            </a:r>
            <a:r>
              <a:rPr lang="de-CH" sz="800" dirty="0" err="1"/>
              <a:t>once</a:t>
            </a:r>
            <a:r>
              <a:rPr lang="de-CH" sz="800" dirty="0"/>
              <a:t> </a:t>
            </a:r>
            <a:r>
              <a:rPr lang="de-CH" sz="800" dirty="0" err="1"/>
              <a:t>you</a:t>
            </a:r>
            <a:r>
              <a:rPr lang="de-CH" sz="800" dirty="0"/>
              <a:t> </a:t>
            </a:r>
            <a:r>
              <a:rPr lang="de-CH" sz="800" dirty="0" err="1"/>
              <a:t>have</a:t>
            </a:r>
            <a:r>
              <a:rPr lang="de-CH" sz="800" dirty="0"/>
              <a:t> </a:t>
            </a:r>
            <a:r>
              <a:rPr lang="de-CH" sz="800" dirty="0" err="1"/>
              <a:t>the</a:t>
            </a:r>
            <a:r>
              <a:rPr lang="de-CH" sz="800" dirty="0"/>
              <a:t> </a:t>
            </a:r>
            <a:r>
              <a:rPr lang="de-CH" sz="800" dirty="0" err="1"/>
              <a:t>database</a:t>
            </a:r>
            <a:r>
              <a:rPr lang="de-CH" sz="800" dirty="0"/>
              <a:t>(s), </a:t>
            </a:r>
            <a:r>
              <a:rPr lang="de-CH" sz="800" dirty="0" err="1"/>
              <a:t>it</a:t>
            </a:r>
            <a:r>
              <a:rPr lang="de-CH" sz="800" dirty="0"/>
              <a:t> </a:t>
            </a:r>
            <a:r>
              <a:rPr lang="de-CH" sz="800" dirty="0" err="1"/>
              <a:t>may</a:t>
            </a:r>
            <a:r>
              <a:rPr lang="de-CH" sz="800" dirty="0"/>
              <a:t> </a:t>
            </a:r>
            <a:r>
              <a:rPr lang="de-CH" sz="800" dirty="0" err="1"/>
              <a:t>bemore</a:t>
            </a:r>
            <a:r>
              <a:rPr lang="de-CH" sz="800" dirty="0"/>
              <a:t> human </a:t>
            </a:r>
            <a:r>
              <a:rPr lang="de-CH" sz="800" dirty="0" err="1"/>
              <a:t>friendly</a:t>
            </a:r>
            <a:r>
              <a:rPr lang="de-CH" sz="800" dirty="0"/>
              <a:t> </a:t>
            </a:r>
            <a:r>
              <a:rPr lang="de-CH" sz="800" dirty="0" err="1"/>
              <a:t>to</a:t>
            </a:r>
            <a:r>
              <a:rPr lang="de-CH" sz="800" dirty="0"/>
              <a:t> </a:t>
            </a:r>
            <a:r>
              <a:rPr lang="de-CH" sz="800" dirty="0" err="1"/>
              <a:t>look</a:t>
            </a:r>
            <a:r>
              <a:rPr lang="de-CH" sz="800" dirty="0"/>
              <a:t> at </a:t>
            </a:r>
            <a:r>
              <a:rPr lang="de-CH" sz="800" dirty="0" err="1"/>
              <a:t>it</a:t>
            </a:r>
            <a:r>
              <a:rPr lang="de-CH" sz="800" dirty="0"/>
              <a:t> in AB and do quick LCIA </a:t>
            </a:r>
            <a:r>
              <a:rPr lang="de-CH" sz="800" dirty="0" err="1"/>
              <a:t>calcs</a:t>
            </a:r>
            <a:r>
              <a:rPr lang="de-CH" sz="800" dirty="0"/>
              <a:t> </a:t>
            </a:r>
            <a:r>
              <a:rPr lang="de-CH" sz="800" dirty="0" err="1"/>
              <a:t>there</a:t>
            </a:r>
            <a:r>
              <a:rPr lang="de-CH" sz="800" dirty="0"/>
              <a:t>.</a:t>
            </a:r>
          </a:p>
          <a:p>
            <a:r>
              <a:rPr lang="de-CH" sz="800" dirty="0" err="1"/>
              <a:t>When</a:t>
            </a:r>
            <a:r>
              <a:rPr lang="de-CH" sz="800" dirty="0"/>
              <a:t> </a:t>
            </a:r>
            <a:r>
              <a:rPr lang="de-CH" sz="800" dirty="0" err="1"/>
              <a:t>you</a:t>
            </a:r>
            <a:r>
              <a:rPr lang="de-CH" sz="800" dirty="0"/>
              <a:t> </a:t>
            </a:r>
            <a:r>
              <a:rPr lang="de-CH" sz="800" dirty="0" err="1"/>
              <a:t>create</a:t>
            </a:r>
            <a:r>
              <a:rPr lang="de-CH" sz="800" dirty="0"/>
              <a:t> an </a:t>
            </a:r>
            <a:r>
              <a:rPr lang="de-CH" sz="800" dirty="0" err="1"/>
              <a:t>env</a:t>
            </a:r>
            <a:r>
              <a:rPr lang="de-CH" sz="800" dirty="0"/>
              <a:t> in </a:t>
            </a:r>
            <a:r>
              <a:rPr lang="de-CH" sz="800" dirty="0" err="1"/>
              <a:t>the</a:t>
            </a:r>
            <a:r>
              <a:rPr lang="de-CH" sz="800" dirty="0"/>
              <a:t> prompt </a:t>
            </a:r>
            <a:r>
              <a:rPr lang="de-CH" sz="800" dirty="0" err="1"/>
              <a:t>window</a:t>
            </a:r>
            <a:r>
              <a:rPr lang="de-CH" sz="800" dirty="0"/>
              <a:t>, </a:t>
            </a:r>
            <a:r>
              <a:rPr lang="de-CH" sz="800" dirty="0" err="1"/>
              <a:t>set</a:t>
            </a:r>
            <a:r>
              <a:rPr lang="de-CH" sz="800" dirty="0"/>
              <a:t> </a:t>
            </a:r>
            <a:r>
              <a:rPr lang="de-CH" sz="800" dirty="0" err="1"/>
              <a:t>up</a:t>
            </a:r>
            <a:r>
              <a:rPr lang="de-CH" sz="800" dirty="0"/>
              <a:t> a </a:t>
            </a:r>
            <a:r>
              <a:rPr lang="de-CH" sz="800" dirty="0" err="1"/>
              <a:t>project&amp;import</a:t>
            </a:r>
            <a:r>
              <a:rPr lang="de-CH" sz="800" dirty="0"/>
              <a:t> </a:t>
            </a:r>
            <a:r>
              <a:rPr lang="de-CH" sz="800" dirty="0" err="1"/>
              <a:t>databases</a:t>
            </a:r>
            <a:r>
              <a:rPr lang="de-CH" sz="800" dirty="0"/>
              <a:t> in </a:t>
            </a:r>
            <a:r>
              <a:rPr lang="de-CH" sz="800" dirty="0" err="1"/>
              <a:t>jupyter</a:t>
            </a:r>
            <a:r>
              <a:rPr lang="de-CH" sz="800" dirty="0"/>
              <a:t> </a:t>
            </a:r>
            <a:r>
              <a:rPr lang="de-CH" sz="800" dirty="0" err="1"/>
              <a:t>notebook</a:t>
            </a:r>
            <a:r>
              <a:rPr lang="de-CH" sz="800" dirty="0"/>
              <a:t>, all </a:t>
            </a:r>
            <a:r>
              <a:rPr lang="de-CH" sz="800" dirty="0" err="1"/>
              <a:t>these</a:t>
            </a:r>
            <a:r>
              <a:rPr lang="de-CH" sz="800" dirty="0"/>
              <a:t> will </a:t>
            </a:r>
            <a:r>
              <a:rPr lang="de-CH" sz="800" dirty="0" err="1"/>
              <a:t>directly</a:t>
            </a:r>
            <a:r>
              <a:rPr lang="de-CH" sz="800" dirty="0"/>
              <a:t> </a:t>
            </a:r>
            <a:r>
              <a:rPr lang="de-CH" sz="800" dirty="0" err="1"/>
              <a:t>be</a:t>
            </a:r>
            <a:r>
              <a:rPr lang="de-CH" sz="800" dirty="0"/>
              <a:t> </a:t>
            </a:r>
            <a:r>
              <a:rPr lang="de-CH" sz="800" dirty="0" err="1"/>
              <a:t>displayed</a:t>
            </a:r>
            <a:r>
              <a:rPr lang="de-CH" sz="800" dirty="0"/>
              <a:t> in AB (and vice </a:t>
            </a:r>
            <a:r>
              <a:rPr lang="de-CH" sz="800" dirty="0" err="1"/>
              <a:t>versa</a:t>
            </a:r>
            <a:r>
              <a:rPr lang="de-CH" sz="800" dirty="0"/>
              <a:t>)!</a:t>
            </a:r>
          </a:p>
          <a:p>
            <a:r>
              <a:rPr lang="de-CH" sz="900" b="1" i="1" dirty="0"/>
              <a:t>Installation (in prompt </a:t>
            </a:r>
            <a:r>
              <a:rPr lang="de-CH" sz="900" b="1" i="1" dirty="0" err="1"/>
              <a:t>window</a:t>
            </a:r>
            <a:r>
              <a:rPr lang="de-CH" sz="900" b="1" i="1" dirty="0"/>
              <a:t>)</a:t>
            </a:r>
            <a:r>
              <a:rPr lang="de-CH" sz="900" dirty="0"/>
              <a:t> = </a:t>
            </a:r>
            <a:r>
              <a:rPr lang="de-CH" sz="900" dirty="0" err="1"/>
              <a:t>creating</a:t>
            </a:r>
            <a:r>
              <a:rPr lang="de-CH" sz="900" dirty="0"/>
              <a:t> a </a:t>
            </a:r>
            <a:r>
              <a:rPr lang="de-CH" sz="900" dirty="0" err="1"/>
              <a:t>conda</a:t>
            </a:r>
            <a:r>
              <a:rPr lang="de-CH" sz="900" dirty="0"/>
              <a:t> </a:t>
            </a:r>
            <a:r>
              <a:rPr lang="de-CH" sz="900" dirty="0" err="1"/>
              <a:t>env</a:t>
            </a:r>
            <a:r>
              <a:rPr lang="de-CH" sz="900" dirty="0"/>
              <a:t> and </a:t>
            </a:r>
            <a:r>
              <a:rPr lang="de-CH" sz="900" dirty="0" err="1"/>
              <a:t>attaching</a:t>
            </a:r>
            <a:r>
              <a:rPr lang="de-CH" sz="900" dirty="0"/>
              <a:t> </a:t>
            </a:r>
            <a:r>
              <a:rPr lang="de-CH" sz="900" dirty="0" err="1"/>
              <a:t>the</a:t>
            </a:r>
            <a:r>
              <a:rPr lang="de-CH" sz="900" dirty="0"/>
              <a:t> ab </a:t>
            </a:r>
            <a:r>
              <a:rPr lang="de-CH" sz="900" dirty="0" err="1"/>
              <a:t>package</a:t>
            </a:r>
            <a:r>
              <a:rPr lang="de-CH" sz="900" dirty="0"/>
              <a:t> </a:t>
            </a:r>
            <a:r>
              <a:rPr lang="de-CH" sz="900" dirty="0" err="1"/>
              <a:t>to</a:t>
            </a:r>
            <a:r>
              <a:rPr lang="de-CH" sz="900" dirty="0"/>
              <a:t> </a:t>
            </a:r>
            <a:r>
              <a:rPr lang="de-CH" sz="900" dirty="0" err="1"/>
              <a:t>it</a:t>
            </a:r>
            <a:r>
              <a:rPr lang="de-CH" sz="900" dirty="0"/>
              <a:t>: </a:t>
            </a:r>
            <a:r>
              <a:rPr lang="de-CH" sz="900" dirty="0">
                <a:hlinkClick r:id="rId6"/>
              </a:rPr>
              <a:t>https://lca-activitybrowser.github.io/activity-browser/beta.html</a:t>
            </a:r>
            <a:r>
              <a:rPr lang="de-CH" sz="900" dirty="0"/>
              <a:t>  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900" b="1" i="1" dirty="0"/>
              <a:t>Opening AB</a:t>
            </a:r>
            <a:r>
              <a:rPr lang="de-CH" sz="900" b="1" i="1" dirty="0">
                <a:latin typeface="Calibri body"/>
                <a:cs typeface="Courier New" panose="02070309020205020404" pitchFamily="49" charset="0"/>
              </a:rPr>
              <a:t>: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ab 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activity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-browser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51953C-5AC6-47C4-A3F4-6D4857F84F98}"/>
              </a:ext>
            </a:extLst>
          </p:cNvPr>
          <p:cNvSpPr txBox="1"/>
          <p:nvPr/>
        </p:nvSpPr>
        <p:spPr>
          <a:xfrm>
            <a:off x="176901" y="66513"/>
            <a:ext cx="264678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700" dirty="0">
                <a:latin typeface="+mj-lt"/>
              </a:rPr>
              <a:t>Version 3, </a:t>
            </a:r>
            <a:r>
              <a:rPr lang="de-CH" sz="700" dirty="0" err="1">
                <a:latin typeface="+mj-lt"/>
              </a:rPr>
              <a:t>comments</a:t>
            </a:r>
            <a:r>
              <a:rPr lang="de-CH" sz="700" dirty="0">
                <a:latin typeface="+mj-lt"/>
              </a:rPr>
              <a:t> </a:t>
            </a:r>
            <a:r>
              <a:rPr lang="de-CH" sz="700" dirty="0" err="1">
                <a:latin typeface="+mj-lt"/>
              </a:rPr>
              <a:t>to</a:t>
            </a:r>
            <a:r>
              <a:rPr lang="de-CH" sz="700" dirty="0">
                <a:latin typeface="+mj-lt"/>
              </a:rPr>
              <a:t> </a:t>
            </a:r>
            <a:r>
              <a:rPr lang="de-CH" sz="700" dirty="0">
                <a:latin typeface="+mj-lt"/>
                <a:hlinkClick r:id="rId7"/>
              </a:rPr>
              <a:t>karin.treyer@psi.ch</a:t>
            </a:r>
            <a:r>
              <a:rPr lang="de-CH" sz="700" dirty="0">
                <a:latin typeface="+mj-lt"/>
              </a:rPr>
              <a:t>, Sep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4CA80-3E00-A024-85EC-96A496C2D409}"/>
              </a:ext>
            </a:extLst>
          </p:cNvPr>
          <p:cNvSpPr txBox="1"/>
          <p:nvPr/>
        </p:nvSpPr>
        <p:spPr>
          <a:xfrm>
            <a:off x="6614000" y="3238663"/>
            <a:ext cx="301878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0265F6-E3DC-5818-9156-DD6BC2ECC4E5}"/>
              </a:ext>
            </a:extLst>
          </p:cNvPr>
          <p:cNvSpPr txBox="1"/>
          <p:nvPr/>
        </p:nvSpPr>
        <p:spPr>
          <a:xfrm>
            <a:off x="6915878" y="3238663"/>
            <a:ext cx="2646947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1000" dirty="0">
                <a:solidFill>
                  <a:schemeClr val="bg1"/>
                </a:solidFill>
              </a:rPr>
              <a:t>Manage </a:t>
            </a:r>
            <a:r>
              <a:rPr lang="de-CH" sz="1000" dirty="0" err="1">
                <a:solidFill>
                  <a:schemeClr val="bg1"/>
                </a:solidFill>
              </a:rPr>
              <a:t>databases</a:t>
            </a:r>
            <a:endParaRPr lang="de-CH" sz="1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56B9AD-FD3D-F56D-A5DA-CB5167312FD3}"/>
              </a:ext>
            </a:extLst>
          </p:cNvPr>
          <p:cNvSpPr txBox="1"/>
          <p:nvPr/>
        </p:nvSpPr>
        <p:spPr>
          <a:xfrm>
            <a:off x="6575080" y="3448995"/>
            <a:ext cx="320607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Checking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which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dbs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you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have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:  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list(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bd.databases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Delete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: del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bd.databases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Copy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: original =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bd.Database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mydb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original.copy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mydb_newname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Rename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original.rename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mydb_renamed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endParaRPr lang="de-CH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20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C7943D-1DDD-EB74-72AB-919007C64CBA}"/>
              </a:ext>
            </a:extLst>
          </p:cNvPr>
          <p:cNvSpPr txBox="1"/>
          <p:nvPr/>
        </p:nvSpPr>
        <p:spPr>
          <a:xfrm>
            <a:off x="401015" y="277288"/>
            <a:ext cx="301878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69E42-D5CC-D3EA-AFD5-7FAE50792215}"/>
              </a:ext>
            </a:extLst>
          </p:cNvPr>
          <p:cNvSpPr txBox="1"/>
          <p:nvPr/>
        </p:nvSpPr>
        <p:spPr>
          <a:xfrm>
            <a:off x="702893" y="277288"/>
            <a:ext cx="2646947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1000" dirty="0">
                <a:solidFill>
                  <a:schemeClr val="bg1"/>
                </a:solidFill>
              </a:rPr>
              <a:t>Checking </a:t>
            </a:r>
            <a:r>
              <a:rPr lang="de-CH" sz="1000" dirty="0" err="1">
                <a:solidFill>
                  <a:schemeClr val="bg1"/>
                </a:solidFill>
              </a:rPr>
              <a:t>the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content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of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the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dbs</a:t>
            </a:r>
            <a:endParaRPr lang="de-CH" sz="1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DDFA3-EF53-A7AD-E1AC-46BBF0E53B8D}"/>
              </a:ext>
            </a:extLst>
          </p:cNvPr>
          <p:cNvSpPr txBox="1"/>
          <p:nvPr/>
        </p:nvSpPr>
        <p:spPr>
          <a:xfrm>
            <a:off x="401015" y="548580"/>
            <a:ext cx="3206074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bio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bd.Database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biosphere3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ei =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bd.Database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‘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ev311cutoff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 =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bd.methods</a:t>
            </a:r>
            <a:endParaRPr kumimoji="0" lang="de-C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Misc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applicable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all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above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except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sometimes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m, i.e.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replace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want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bio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ei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len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bio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// type(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bio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act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ei.random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#picking a </a:t>
            </a:r>
            <a:r>
              <a:rPr kumimoji="0" lang="de-CH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</a:t>
            </a:r>
            <a:r>
              <a:rPr kumimoji="0" lang="de-CH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activity</a:t>
            </a:r>
            <a:r>
              <a:rPr kumimoji="0" lang="de-CH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de-CH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biosphere</a:t>
            </a:r>
            <a:r>
              <a:rPr kumimoji="0" lang="de-CH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flow</a:t>
            </a:r>
            <a:r>
              <a:rPr kumimoji="0" lang="de-CH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de-CH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method</a:t>
            </a:r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act.as_dict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#Looking at an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activity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biosphere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flow</a:t>
            </a:r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Diving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deeper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looking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at all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technosphere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biosphere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exchanges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activity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a. 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list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act.technosphere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())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body"/>
                <a:cs typeface="Courier New" panose="02070309020205020404" pitchFamily="49" charset="0"/>
              </a:rPr>
              <a:t>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body"/>
                <a:cs typeface="Courier New" panose="02070309020205020404" pitchFamily="49" charset="0"/>
              </a:rPr>
              <a:t>or</a:t>
            </a: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body"/>
                <a:cs typeface="Courier New" panose="02070309020205020404" pitchFamily="49" charset="0"/>
              </a:rPr>
              <a:t> 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list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act.biosphere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()) </a:t>
            </a:r>
            <a:r>
              <a:rPr kumimoji="0" lang="de-CH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body"/>
                <a:cs typeface="Courier New" panose="02070309020205020404" pitchFamily="49" charset="0"/>
              </a:rPr>
              <a:t>or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list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</a:t>
            </a:r>
            <a:r>
              <a:rPr lang="de-CH" sz="8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t.production</a:t>
            </a:r>
            <a:r>
              <a:rPr lang="de-CH" sz="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endParaRPr kumimoji="0" lang="de-C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b. 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e in 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act.exchanges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if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e ['type'] == '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technosphere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(e['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name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'], e['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amount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'], e['type'],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	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e.get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</a:t>
            </a:r>
            <a:r>
              <a:rPr kumimoji="0" lang="de-CH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location</a:t>
            </a:r>
            <a:r>
              <a:rPr kumimoji="0" lang="de-C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’))</a:t>
            </a:r>
          </a:p>
          <a:p>
            <a:r>
              <a:rPr lang="de-CH" sz="900" b="1" dirty="0" err="1"/>
              <a:t>Searching</a:t>
            </a:r>
            <a:r>
              <a:rPr lang="de-CH" sz="900" b="1" dirty="0"/>
              <a:t>:</a:t>
            </a:r>
          </a:p>
          <a:p>
            <a:r>
              <a:rPr lang="de-CH" sz="900" dirty="0" err="1"/>
              <a:t>Knowing</a:t>
            </a:r>
            <a:r>
              <a:rPr lang="de-CH" sz="900" dirty="0"/>
              <a:t> </a:t>
            </a:r>
            <a:r>
              <a:rPr lang="de-CH" sz="900" dirty="0" err="1"/>
              <a:t>for</a:t>
            </a:r>
            <a:r>
              <a:rPr lang="de-CH" sz="900" dirty="0"/>
              <a:t> </a:t>
            </a:r>
            <a:r>
              <a:rPr lang="de-CH" sz="900" dirty="0" err="1"/>
              <a:t>which</a:t>
            </a:r>
            <a:r>
              <a:rPr lang="de-CH" sz="900" dirty="0"/>
              <a:t> </a:t>
            </a:r>
            <a:r>
              <a:rPr lang="de-CH" sz="900" dirty="0" err="1"/>
              <a:t>fields</a:t>
            </a:r>
            <a:r>
              <a:rPr lang="de-CH" sz="900" dirty="0"/>
              <a:t> I </a:t>
            </a:r>
            <a:r>
              <a:rPr lang="de-CH" sz="900" dirty="0" err="1"/>
              <a:t>can</a:t>
            </a:r>
            <a:r>
              <a:rPr lang="de-CH" sz="900" dirty="0"/>
              <a:t> </a:t>
            </a:r>
            <a:r>
              <a:rPr lang="de-CH" sz="900" dirty="0" err="1"/>
              <a:t>search</a:t>
            </a:r>
            <a:r>
              <a:rPr lang="de-CH" sz="900" dirty="0"/>
              <a:t> (</a:t>
            </a:r>
            <a:r>
              <a:rPr lang="de-CH" sz="900" dirty="0" err="1"/>
              <a:t>categories</a:t>
            </a:r>
            <a:r>
              <a:rPr lang="de-CH" sz="900" dirty="0"/>
              <a:t>): </a:t>
            </a:r>
          </a:p>
          <a:p>
            <a:r>
              <a:rPr lang="de-CH" sz="900" dirty="0"/>
              <a:t>in </a:t>
            </a:r>
            <a:r>
              <a:rPr lang="de-CH" sz="900" i="1" dirty="0" err="1"/>
              <a:t>ecoinvent</a:t>
            </a:r>
            <a:r>
              <a:rPr lang="de-CH" sz="900" dirty="0"/>
              <a:t>: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ei.random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CH" sz="900" dirty="0"/>
              <a:t> </a:t>
            </a:r>
            <a:r>
              <a:rPr lang="de-CH" sz="900" dirty="0" err="1"/>
              <a:t>then</a:t>
            </a:r>
            <a:r>
              <a:rPr lang="de-CH" sz="900" dirty="0"/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act.keys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de-CH" sz="900" dirty="0"/>
              <a:t>In </a:t>
            </a:r>
            <a:r>
              <a:rPr lang="de-CH" sz="900" i="1" dirty="0" err="1"/>
              <a:t>biosphere</a:t>
            </a:r>
            <a:r>
              <a:rPr lang="de-CH" sz="900" dirty="0"/>
              <a:t>: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(f['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categories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']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f in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bio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de-CH" sz="900" b="1" i="1" dirty="0"/>
              <a:t>a. Search </a:t>
            </a:r>
            <a:r>
              <a:rPr lang="de-CH" sz="900" b="1" i="1" dirty="0" err="1"/>
              <a:t>function</a:t>
            </a:r>
            <a:r>
              <a:rPr lang="de-CH" sz="900" dirty="0"/>
              <a:t>: 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ei.search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electricity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bio.search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carbon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dioxide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{'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categories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': 'urban', 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': 'fossil'})</a:t>
            </a:r>
          </a:p>
          <a:p>
            <a:r>
              <a:rPr lang="de-CH" sz="900" dirty="0"/>
              <a:t>b.  </a:t>
            </a:r>
            <a:r>
              <a:rPr lang="de-CH" sz="900" b="1" i="1" dirty="0"/>
              <a:t>List </a:t>
            </a:r>
            <a:r>
              <a:rPr lang="de-CH" sz="900" b="1" i="1" dirty="0" err="1"/>
              <a:t>comprehension</a:t>
            </a:r>
            <a:r>
              <a:rPr lang="de-CH" sz="900" dirty="0"/>
              <a:t>, </a:t>
            </a:r>
            <a:r>
              <a:rPr lang="de-CH" sz="900" dirty="0" err="1"/>
              <a:t>examples</a:t>
            </a:r>
            <a:r>
              <a:rPr lang="de-CH" sz="900" dirty="0"/>
              <a:t> </a:t>
            </a:r>
            <a:r>
              <a:rPr lang="de-CH" sz="900" dirty="0" err="1"/>
              <a:t>for</a:t>
            </a:r>
            <a:r>
              <a:rPr lang="de-CH" sz="900" dirty="0"/>
              <a:t> </a:t>
            </a:r>
            <a:r>
              <a:rPr lang="de-CH" sz="900" dirty="0" err="1"/>
              <a:t>each</a:t>
            </a:r>
            <a:r>
              <a:rPr lang="de-CH" sz="900" dirty="0"/>
              <a:t> </a:t>
            </a:r>
            <a:r>
              <a:rPr lang="de-CH" sz="900" dirty="0" err="1"/>
              <a:t>database</a:t>
            </a:r>
            <a:r>
              <a:rPr lang="de-CH" sz="900" dirty="0"/>
              <a:t>: </a:t>
            </a:r>
          </a:p>
          <a:p>
            <a:r>
              <a:rPr lang="de-CH" sz="900" i="1" dirty="0" err="1"/>
              <a:t>Biosphere</a:t>
            </a:r>
            <a:r>
              <a:rPr lang="de-CH" sz="900" i="1" dirty="0"/>
              <a:t>:</a:t>
            </a:r>
            <a:r>
              <a:rPr lang="de-CH" sz="900" dirty="0"/>
              <a:t> 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co2 = [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flow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flow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bio</a:t>
            </a:r>
            <a:endParaRPr lang="de-CH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'Carbon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dioxide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 in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flow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and ',  fossil' not in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flow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and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flow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categories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'] ==('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soil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',) ]</a:t>
            </a:r>
            <a:r>
              <a:rPr lang="de-CH" sz="900" dirty="0"/>
              <a:t> </a:t>
            </a:r>
          </a:p>
          <a:p>
            <a:r>
              <a:rPr lang="de-CH" sz="900" i="1" dirty="0" err="1"/>
              <a:t>Ecoinvent</a:t>
            </a:r>
            <a:r>
              <a:rPr lang="de-CH" sz="900" i="1" dirty="0"/>
              <a:t>:</a:t>
            </a:r>
            <a:r>
              <a:rPr lang="de-CH" sz="900" dirty="0"/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coalDE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[a for a in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 if 'electricity production' in a['name']    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and 'coal' in a['name']   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 and a['location'] == 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DE</a:t>
            </a:r>
            <a:r>
              <a:rPr lang="de-CH" sz="800" b="0" dirty="0">
                <a:effectLst/>
                <a:latin typeface="Consolas" panose="020B0609020204030204" pitchFamily="49" charset="0"/>
              </a:rPr>
              <a:t>'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]</a:t>
            </a:r>
            <a:endParaRPr lang="de-CH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900" i="1" dirty="0"/>
              <a:t>Methods:  ef31 = [m for m in bd.methods if 'EF v3.1' in str(m) and 'no LT' not in str(m)]</a:t>
            </a:r>
          </a:p>
          <a:p>
            <a:r>
              <a:rPr lang="de-CH" sz="800" dirty="0">
                <a:cs typeface="Courier New" panose="02070309020205020404" pitchFamily="49" charset="0"/>
                <a:sym typeface="Wingdings" panose="05000000000000000000" pitchFamily="2" charset="2"/>
              </a:rPr>
              <a:t> Once you have that list, you can choose a list element (=specific LCIA method) with e.g. [1]. Then, you can explore that element, e.g. bd.Method(ef31[0]).metadata</a:t>
            </a:r>
            <a:endParaRPr lang="de-CH" sz="800" dirty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bd.Method(ef31[0]).metadata['unit']</a:t>
            </a:r>
          </a:p>
          <a:p>
            <a:r>
              <a:rPr lang="de-CH" sz="800" dirty="0" err="1">
                <a:cs typeface="Courier New" panose="02070309020205020404" pitchFamily="49" charset="0"/>
                <a:sym typeface="Wingdings" panose="05000000000000000000" pitchFamily="2" charset="2"/>
              </a:rPr>
              <a:t>You</a:t>
            </a:r>
            <a:r>
              <a:rPr lang="de-CH" sz="800" dirty="0"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800" dirty="0" err="1">
                <a:cs typeface="Courier New" panose="02070309020205020404" pitchFamily="49" charset="0"/>
                <a:sym typeface="Wingdings" panose="05000000000000000000" pitchFamily="2" charset="2"/>
              </a:rPr>
              <a:t>can</a:t>
            </a:r>
            <a:r>
              <a:rPr lang="de-CH" sz="800" dirty="0">
                <a:cs typeface="Courier New" panose="02070309020205020404" pitchFamily="49" charset="0"/>
                <a:sym typeface="Wingdings" panose="05000000000000000000" pitchFamily="2" charset="2"/>
              </a:rPr>
              <a:t> also </a:t>
            </a:r>
            <a:r>
              <a:rPr lang="de-CH" sz="800" dirty="0" err="1">
                <a:cs typeface="Courier New" panose="02070309020205020404" pitchFamily="49" charset="0"/>
                <a:sym typeface="Wingdings" panose="05000000000000000000" pitchFamily="2" charset="2"/>
              </a:rPr>
              <a:t>use</a:t>
            </a:r>
            <a:r>
              <a:rPr lang="de-CH" sz="800" dirty="0"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800" dirty="0" err="1">
                <a:cs typeface="Courier New" panose="02070309020205020404" pitchFamily="49" charset="0"/>
                <a:sym typeface="Wingdings" panose="05000000000000000000" pitchFamily="2" charset="2"/>
              </a:rPr>
              <a:t>the</a:t>
            </a:r>
            <a:r>
              <a:rPr lang="de-CH" sz="800" dirty="0"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800" dirty="0" err="1">
                <a:cs typeface="Courier New" panose="02070309020205020404" pitchFamily="49" charset="0"/>
                <a:sym typeface="Wingdings" panose="05000000000000000000" pitchFamily="2" charset="2"/>
              </a:rPr>
              <a:t>full</a:t>
            </a:r>
            <a:r>
              <a:rPr lang="de-CH" sz="800" dirty="0"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800" dirty="0" err="1">
                <a:cs typeface="Courier New" panose="02070309020205020404" pitchFamily="49" charset="0"/>
                <a:sym typeface="Wingdings" panose="05000000000000000000" pitchFamily="2" charset="2"/>
              </a:rPr>
              <a:t>list</a:t>
            </a:r>
            <a:r>
              <a:rPr lang="de-CH" sz="800" dirty="0"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800" dirty="0" err="1">
                <a:cs typeface="Courier New" panose="02070309020205020404" pitchFamily="49" charset="0"/>
                <a:sym typeface="Wingdings" panose="05000000000000000000" pitchFamily="2" charset="2"/>
              </a:rPr>
              <a:t>for</a:t>
            </a:r>
            <a:r>
              <a:rPr lang="de-CH" sz="800" dirty="0">
                <a:cs typeface="Courier New" panose="02070309020205020404" pitchFamily="49" charset="0"/>
                <a:sym typeface="Wingdings" panose="05000000000000000000" pitchFamily="2" charset="2"/>
              </a:rPr>
              <a:t> LCIA </a:t>
            </a:r>
            <a:r>
              <a:rPr lang="de-CH" sz="800" dirty="0" err="1">
                <a:cs typeface="Courier New" panose="02070309020205020404" pitchFamily="49" charset="0"/>
                <a:sym typeface="Wingdings" panose="05000000000000000000" pitchFamily="2" charset="2"/>
              </a:rPr>
              <a:t>calculations</a:t>
            </a:r>
            <a:r>
              <a:rPr lang="de-CH" sz="800" dirty="0">
                <a:cs typeface="Courier New" panose="02070309020205020404" pitchFamily="49" charset="0"/>
                <a:sym typeface="Wingdings" panose="05000000000000000000" pitchFamily="2" charset="2"/>
              </a:rPr>
              <a:t>.</a:t>
            </a:r>
            <a:endParaRPr lang="de-CH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436DBC-752D-45AE-BB65-D497AC1CC728}"/>
              </a:ext>
            </a:extLst>
          </p:cNvPr>
          <p:cNvSpPr txBox="1"/>
          <p:nvPr/>
        </p:nvSpPr>
        <p:spPr>
          <a:xfrm>
            <a:off x="3607089" y="257591"/>
            <a:ext cx="301878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20DDF-EC04-4D9A-57A0-CF53C20A3A72}"/>
              </a:ext>
            </a:extLst>
          </p:cNvPr>
          <p:cNvSpPr txBox="1"/>
          <p:nvPr/>
        </p:nvSpPr>
        <p:spPr>
          <a:xfrm>
            <a:off x="3908967" y="257591"/>
            <a:ext cx="2646947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1000" dirty="0" err="1">
                <a:solidFill>
                  <a:schemeClr val="bg1"/>
                </a:solidFill>
              </a:rPr>
              <a:t>Calculating</a:t>
            </a:r>
            <a:r>
              <a:rPr lang="de-CH" sz="1000" dirty="0">
                <a:solidFill>
                  <a:schemeClr val="bg1"/>
                </a:solidFill>
              </a:rPr>
              <a:t> LCIA </a:t>
            </a:r>
            <a:r>
              <a:rPr lang="de-CH" sz="1000" dirty="0" err="1">
                <a:solidFill>
                  <a:schemeClr val="bg1"/>
                </a:solidFill>
              </a:rPr>
              <a:t>results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for</a:t>
            </a:r>
            <a:r>
              <a:rPr lang="de-CH" sz="1000" dirty="0">
                <a:solidFill>
                  <a:schemeClr val="bg1"/>
                </a:solidFill>
              </a:rPr>
              <a:t> 1 activity&amp;1 </a:t>
            </a:r>
            <a:r>
              <a:rPr lang="de-CH" sz="1000" dirty="0" err="1">
                <a:solidFill>
                  <a:schemeClr val="bg1"/>
                </a:solidFill>
              </a:rPr>
              <a:t>method</a:t>
            </a:r>
            <a:endParaRPr lang="de-CH" sz="1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545615-74C1-2CFE-F1DE-59E5B9425E6D}"/>
              </a:ext>
            </a:extLst>
          </p:cNvPr>
          <p:cNvSpPr txBox="1"/>
          <p:nvPr/>
        </p:nvSpPr>
        <p:spPr>
          <a:xfrm>
            <a:off x="3568169" y="482017"/>
            <a:ext cx="3144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de-CH" sz="900" dirty="0" err="1"/>
              <a:t>Choose</a:t>
            </a:r>
            <a:r>
              <a:rPr lang="de-CH" sz="900" dirty="0"/>
              <a:t> an </a:t>
            </a:r>
            <a:r>
              <a:rPr lang="de-CH" sz="900" dirty="0" err="1"/>
              <a:t>activity</a:t>
            </a:r>
            <a:r>
              <a:rPr lang="de-CH" sz="900" dirty="0"/>
              <a:t> and </a:t>
            </a:r>
            <a:r>
              <a:rPr lang="de-CH" sz="900" dirty="0" err="1"/>
              <a:t>give</a:t>
            </a:r>
            <a:r>
              <a:rPr lang="de-CH" sz="900" dirty="0"/>
              <a:t> </a:t>
            </a:r>
            <a:r>
              <a:rPr lang="de-CH" sz="900" dirty="0" err="1"/>
              <a:t>it</a:t>
            </a:r>
            <a:r>
              <a:rPr lang="de-CH" sz="900" dirty="0"/>
              <a:t> a variable </a:t>
            </a:r>
            <a:r>
              <a:rPr lang="de-CH" sz="900" dirty="0" err="1"/>
              <a:t>name</a:t>
            </a:r>
            <a:r>
              <a:rPr lang="de-CH" sz="900" dirty="0"/>
              <a:t> (</a:t>
            </a:r>
            <a:r>
              <a:rPr lang="de-CH" sz="900" dirty="0" err="1"/>
              <a:t>act</a:t>
            </a:r>
            <a:r>
              <a:rPr lang="de-CH" sz="900" dirty="0"/>
              <a:t>)</a:t>
            </a:r>
          </a:p>
          <a:p>
            <a:pPr marL="228600" indent="-228600">
              <a:buFontTx/>
              <a:buAutoNum type="arabicPeriod"/>
            </a:pPr>
            <a:r>
              <a:rPr lang="de-CH" sz="900" dirty="0" err="1"/>
              <a:t>Choose</a:t>
            </a:r>
            <a:r>
              <a:rPr lang="de-CH" sz="900" dirty="0"/>
              <a:t> </a:t>
            </a:r>
            <a:r>
              <a:rPr lang="de-CH" sz="900" dirty="0" err="1"/>
              <a:t>one</a:t>
            </a:r>
            <a:r>
              <a:rPr lang="de-CH" sz="900" dirty="0"/>
              <a:t> </a:t>
            </a:r>
            <a:r>
              <a:rPr lang="de-CH" sz="900" dirty="0" err="1"/>
              <a:t>method</a:t>
            </a:r>
            <a:r>
              <a:rPr lang="de-CH" sz="900" dirty="0"/>
              <a:t> and </a:t>
            </a:r>
            <a:r>
              <a:rPr lang="de-CH" sz="900" dirty="0" err="1"/>
              <a:t>give</a:t>
            </a:r>
            <a:r>
              <a:rPr lang="de-CH" sz="900" dirty="0"/>
              <a:t> </a:t>
            </a:r>
            <a:r>
              <a:rPr lang="de-CH" sz="900" dirty="0" err="1"/>
              <a:t>it</a:t>
            </a:r>
            <a:r>
              <a:rPr lang="de-CH" sz="900" dirty="0"/>
              <a:t> a variable </a:t>
            </a:r>
            <a:r>
              <a:rPr lang="de-CH" sz="900" dirty="0" err="1"/>
              <a:t>name</a:t>
            </a:r>
            <a:r>
              <a:rPr lang="de-CH" sz="900" dirty="0"/>
              <a:t> (</a:t>
            </a:r>
            <a:r>
              <a:rPr lang="de-CH" sz="900" dirty="0" err="1"/>
              <a:t>ipcc</a:t>
            </a:r>
            <a:r>
              <a:rPr lang="de-CH" sz="900" dirty="0"/>
              <a:t>)</a:t>
            </a:r>
          </a:p>
          <a:p>
            <a:pPr marL="228600" indent="-228600">
              <a:buAutoNum type="arabicPeriod"/>
            </a:pP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bc.LCA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: 1},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ipcc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[0])</a:t>
            </a:r>
            <a:r>
              <a:rPr lang="de-CH" sz="900" dirty="0"/>
              <a:t> #act:1 </a:t>
            </a:r>
            <a:r>
              <a:rPr lang="de-CH" sz="900" dirty="0" err="1"/>
              <a:t>is</a:t>
            </a:r>
            <a:r>
              <a:rPr lang="de-CH" sz="900" dirty="0"/>
              <a:t> </a:t>
            </a:r>
            <a:r>
              <a:rPr lang="de-CH" sz="900" dirty="0" err="1"/>
              <a:t>the</a:t>
            </a:r>
            <a:r>
              <a:rPr lang="de-CH" sz="900" dirty="0"/>
              <a:t> FU</a:t>
            </a:r>
          </a:p>
          <a:p>
            <a:pPr marL="228600" indent="-228600">
              <a:buAutoNum type="arabicPeriod"/>
            </a:pP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lca.lci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900" dirty="0"/>
              <a:t># Builds matrices, solves the system</a:t>
            </a:r>
          </a:p>
          <a:p>
            <a:pPr marL="228600" indent="-228600">
              <a:buAutoNum type="arabicPeriod"/>
            </a:pP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lca.lcia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900" dirty="0"/>
              <a:t># Characterization, i.e. the multiplication of the elements of the LCI matrix with characterization factors from the chosen method</a:t>
            </a:r>
          </a:p>
          <a:p>
            <a:pPr marL="228600" indent="-228600">
              <a:buAutoNum type="arabicPeriod"/>
            </a:pP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lca.score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900" dirty="0"/>
              <a:t>#Returns the LCIA score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08FCC2-7537-5379-74AC-73BB059F12C1}"/>
              </a:ext>
            </a:extLst>
          </p:cNvPr>
          <p:cNvSpPr txBox="1"/>
          <p:nvPr/>
        </p:nvSpPr>
        <p:spPr>
          <a:xfrm>
            <a:off x="3590085" y="1658732"/>
            <a:ext cx="301878" cy="353943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  <a:p>
            <a:endParaRPr lang="de-CH" sz="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6B3A1A-EA6C-5BEB-2499-0E85AE7B59ED}"/>
              </a:ext>
            </a:extLst>
          </p:cNvPr>
          <p:cNvSpPr txBox="1"/>
          <p:nvPr/>
        </p:nvSpPr>
        <p:spPr>
          <a:xfrm>
            <a:off x="3891963" y="1658732"/>
            <a:ext cx="264694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900" dirty="0" err="1">
                <a:solidFill>
                  <a:schemeClr val="bg1"/>
                </a:solidFill>
              </a:rPr>
              <a:t>Calculating</a:t>
            </a:r>
            <a:r>
              <a:rPr lang="de-CH" sz="900" dirty="0">
                <a:solidFill>
                  <a:schemeClr val="bg1"/>
                </a:solidFill>
              </a:rPr>
              <a:t> LCIA </a:t>
            </a:r>
            <a:r>
              <a:rPr lang="de-CH" sz="900" dirty="0" err="1">
                <a:solidFill>
                  <a:schemeClr val="bg1"/>
                </a:solidFill>
              </a:rPr>
              <a:t>results</a:t>
            </a:r>
            <a:r>
              <a:rPr lang="de-CH" sz="900" dirty="0">
                <a:solidFill>
                  <a:schemeClr val="bg1"/>
                </a:solidFill>
              </a:rPr>
              <a:t> </a:t>
            </a:r>
            <a:r>
              <a:rPr lang="de-CH" sz="900" dirty="0" err="1">
                <a:solidFill>
                  <a:schemeClr val="bg1"/>
                </a:solidFill>
              </a:rPr>
              <a:t>for</a:t>
            </a:r>
            <a:r>
              <a:rPr lang="de-CH" sz="900" dirty="0">
                <a:solidFill>
                  <a:schemeClr val="bg1"/>
                </a:solidFill>
              </a:rPr>
              <a:t> multiple </a:t>
            </a:r>
            <a:r>
              <a:rPr lang="de-CH" sz="900" dirty="0" err="1">
                <a:solidFill>
                  <a:schemeClr val="bg1"/>
                </a:solidFill>
              </a:rPr>
              <a:t>activities</a:t>
            </a:r>
            <a:r>
              <a:rPr lang="de-CH" sz="900" dirty="0">
                <a:solidFill>
                  <a:schemeClr val="bg1"/>
                </a:solidFill>
              </a:rPr>
              <a:t> (</a:t>
            </a:r>
            <a:r>
              <a:rPr lang="de-CH" sz="900" dirty="0" err="1">
                <a:solidFill>
                  <a:schemeClr val="bg1"/>
                </a:solidFill>
              </a:rPr>
              <a:t>functional</a:t>
            </a:r>
            <a:r>
              <a:rPr lang="de-CH" sz="900" dirty="0">
                <a:solidFill>
                  <a:schemeClr val="bg1"/>
                </a:solidFill>
              </a:rPr>
              <a:t> </a:t>
            </a:r>
            <a:r>
              <a:rPr lang="de-CH" sz="900" dirty="0" err="1">
                <a:solidFill>
                  <a:schemeClr val="bg1"/>
                </a:solidFill>
              </a:rPr>
              <a:t>units</a:t>
            </a:r>
            <a:r>
              <a:rPr lang="de-CH" sz="900" dirty="0">
                <a:solidFill>
                  <a:schemeClr val="bg1"/>
                </a:solidFill>
              </a:rPr>
              <a:t>)/</a:t>
            </a:r>
            <a:r>
              <a:rPr lang="de-CH" sz="900" dirty="0" err="1">
                <a:solidFill>
                  <a:schemeClr val="bg1"/>
                </a:solidFill>
              </a:rPr>
              <a:t>methods</a:t>
            </a:r>
            <a:endParaRPr lang="de-CH" sz="9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CC2F43-DF40-7177-AB6D-8AA41EA631E2}"/>
              </a:ext>
            </a:extLst>
          </p:cNvPr>
          <p:cNvSpPr txBox="1"/>
          <p:nvPr/>
        </p:nvSpPr>
        <p:spPr>
          <a:xfrm>
            <a:off x="3568169" y="2018353"/>
            <a:ext cx="3144510" cy="367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/>
              <a:t>Option 1:</a:t>
            </a:r>
          </a:p>
          <a:p>
            <a:pPr marL="228600" indent="-228600">
              <a:buFontTx/>
              <a:buAutoNum type="arabicPeriod"/>
            </a:pPr>
            <a:r>
              <a:rPr lang="de-CH" sz="900" dirty="0" err="1"/>
              <a:t>acts</a:t>
            </a:r>
            <a:r>
              <a:rPr lang="de-CH" sz="900" dirty="0"/>
              <a:t> = list of activities; methods = list </a:t>
            </a:r>
            <a:r>
              <a:rPr lang="de-CH" sz="900" dirty="0" err="1"/>
              <a:t>of</a:t>
            </a:r>
            <a:r>
              <a:rPr lang="de-CH" sz="900" dirty="0"/>
              <a:t> </a:t>
            </a:r>
            <a:r>
              <a:rPr lang="de-CH" sz="900" dirty="0" err="1"/>
              <a:t>methods</a:t>
            </a:r>
            <a:endParaRPr lang="de-CH" sz="900" dirty="0"/>
          </a:p>
          <a:p>
            <a:pPr marL="228600" indent="-228600">
              <a:buFontTx/>
              <a:buAutoNum type="arabicPeriod"/>
            </a:pPr>
            <a:r>
              <a:rPr lang="de-CH" sz="900" b="0" i="0" dirty="0" err="1">
                <a:effectLst/>
                <a:latin typeface="Courier New" panose="02070309020205020404" pitchFamily="49" charset="0"/>
              </a:rPr>
              <a:t>demands</a:t>
            </a:r>
            <a:r>
              <a:rPr lang="de-CH" sz="900" b="0" i="0" dirty="0">
                <a:effectLst/>
                <a:latin typeface="Courier New" panose="02070309020205020404" pitchFamily="49" charset="0"/>
              </a:rPr>
              <a:t> = {f"{a['</a:t>
            </a:r>
            <a:r>
              <a:rPr lang="de-CH" sz="900" b="0" i="0" dirty="0" err="1">
                <a:effectLst/>
                <a:latin typeface="Courier New" panose="02070309020205020404" pitchFamily="49" charset="0"/>
              </a:rPr>
              <a:t>name</a:t>
            </a:r>
            <a:r>
              <a:rPr lang="de-CH" sz="900" b="0" i="0" dirty="0">
                <a:effectLst/>
                <a:latin typeface="Courier New" panose="02070309020205020404" pitchFamily="49" charset="0"/>
              </a:rPr>
              <a:t>']} | {a['</a:t>
            </a:r>
            <a:r>
              <a:rPr lang="de-CH" sz="900" b="0" i="0" dirty="0" err="1">
                <a:effectLst/>
                <a:latin typeface="Courier New" panose="02070309020205020404" pitchFamily="49" charset="0"/>
              </a:rPr>
              <a:t>location</a:t>
            </a:r>
            <a:r>
              <a:rPr lang="de-CH" sz="900" b="0" i="0" dirty="0">
                <a:effectLst/>
                <a:latin typeface="Courier New" panose="02070309020205020404" pitchFamily="49" charset="0"/>
              </a:rPr>
              <a:t>']}": {a.id: 1} </a:t>
            </a:r>
            <a:r>
              <a:rPr lang="de-CH" sz="900" b="0" i="0" dirty="0" err="1">
                <a:effectLst/>
                <a:latin typeface="Courier New" panose="02070309020205020404" pitchFamily="49" charset="0"/>
              </a:rPr>
              <a:t>for</a:t>
            </a:r>
            <a:r>
              <a:rPr lang="de-CH" sz="900" b="0" i="0" dirty="0">
                <a:effectLst/>
                <a:latin typeface="Courier New" panose="02070309020205020404" pitchFamily="49" charset="0"/>
              </a:rPr>
              <a:t> a in </a:t>
            </a:r>
            <a:r>
              <a:rPr lang="de-CH" sz="900" b="0" i="0" dirty="0" err="1">
                <a:effectLst/>
                <a:latin typeface="Courier New" panose="02070309020205020404" pitchFamily="49" charset="0"/>
              </a:rPr>
              <a:t>acts</a:t>
            </a:r>
            <a:r>
              <a:rPr lang="de-CH" sz="900" b="0" i="0" dirty="0">
                <a:effectLst/>
                <a:latin typeface="Courier New" panose="02070309020205020404" pitchFamily="49" charset="0"/>
              </a:rPr>
              <a:t>}</a:t>
            </a:r>
          </a:p>
          <a:p>
            <a:pPr marL="228600" indent="-228600">
              <a:buFontTx/>
              <a:buAutoNum type="arabicPeriod"/>
            </a:pPr>
            <a:r>
              <a:rPr lang="de-CH" sz="900" dirty="0" err="1">
                <a:latin typeface="Courier New" panose="02070309020205020404" pitchFamily="49" charset="0"/>
              </a:rPr>
              <a:t>config</a:t>
            </a:r>
            <a:r>
              <a:rPr lang="de-CH" sz="900" dirty="0">
                <a:latin typeface="Courier New" panose="02070309020205020404" pitchFamily="49" charset="0"/>
              </a:rPr>
              <a:t> = {'impact_categories': </a:t>
            </a:r>
            <a:r>
              <a:rPr lang="de-CH" sz="900" dirty="0" err="1">
                <a:latin typeface="Courier New" panose="02070309020205020404" pitchFamily="49" charset="0"/>
              </a:rPr>
              <a:t>methods</a:t>
            </a:r>
            <a:r>
              <a:rPr lang="de-CH" sz="900" dirty="0">
                <a:latin typeface="Courier New" panose="02070309020205020404" pitchFamily="49" charset="0"/>
              </a:rPr>
              <a:t>}</a:t>
            </a:r>
          </a:p>
          <a:p>
            <a:pPr marL="228600" indent="-228600">
              <a:buFontTx/>
              <a:buAutoNum type="arabicPeriod"/>
            </a:pP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dobjs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bd.get_multilca_data_objs(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functional_units=demands, method_config=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5.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mLCA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bc.MultiLCA(demands=demands,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method_config=config, data_objs=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dobjs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6.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mLCA.lci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  ;  </a:t>
            </a:r>
            <a:r>
              <a:rPr lang="de-CH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mLCA.lcia</a:t>
            </a:r>
            <a:r>
              <a:rPr lang="de-CH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7.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mLCA.scores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#dict {(method, FU label): score}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8.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pd.Series(mLCA.scores).unstack(level=0)</a:t>
            </a:r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9.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df.to_excel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('excelname.xlsx’)</a:t>
            </a:r>
          </a:p>
          <a:p>
            <a:endParaRPr lang="de-CH" sz="900" dirty="0"/>
          </a:p>
          <a:p>
            <a:r>
              <a:rPr lang="de-CH" sz="900" dirty="0"/>
              <a:t>Option 2: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bc.LCA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first_act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: 1},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[0])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lca.lci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factorize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lca.lcia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lca.redo_lci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({act.id: 1})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m in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lca.switch_method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(m)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lca.lcia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"], m[1],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lca.score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de-CH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CH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4444F5-E302-8473-40C3-1039708659FD}"/>
              </a:ext>
            </a:extLst>
          </p:cNvPr>
          <p:cNvSpPr txBox="1"/>
          <p:nvPr/>
        </p:nvSpPr>
        <p:spPr>
          <a:xfrm>
            <a:off x="6785959" y="3243979"/>
            <a:ext cx="301878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CE986A-BDFA-AA30-F156-A55254841C34}"/>
              </a:ext>
            </a:extLst>
          </p:cNvPr>
          <p:cNvSpPr txBox="1"/>
          <p:nvPr/>
        </p:nvSpPr>
        <p:spPr>
          <a:xfrm>
            <a:off x="7087837" y="3243979"/>
            <a:ext cx="2646947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1000" dirty="0" err="1">
                <a:solidFill>
                  <a:schemeClr val="bg1"/>
                </a:solidFill>
              </a:rPr>
              <a:t>Contribution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analysis</a:t>
            </a:r>
            <a:r>
              <a:rPr lang="de-CH" sz="1000" dirty="0">
                <a:solidFill>
                  <a:schemeClr val="bg1"/>
                </a:solidFill>
              </a:rPr>
              <a:t> (Option I)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7F2CCF-DB7A-D04B-41F4-C484C416895F}"/>
              </a:ext>
            </a:extLst>
          </p:cNvPr>
          <p:cNvSpPr txBox="1"/>
          <p:nvPr/>
        </p:nvSpPr>
        <p:spPr>
          <a:xfrm>
            <a:off x="6699926" y="3445477"/>
            <a:ext cx="3206074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de-CH" sz="900" dirty="0">
                <a:sym typeface="Wingdings" panose="05000000000000000000" pitchFamily="2" charset="2"/>
              </a:rPr>
              <a:t>This </a:t>
            </a:r>
            <a:r>
              <a:rPr lang="de-CH" sz="900" dirty="0" err="1">
                <a:sym typeface="Wingdings" panose="05000000000000000000" pitchFamily="2" charset="2"/>
              </a:rPr>
              <a:t>has</a:t>
            </a:r>
            <a:r>
              <a:rPr lang="de-CH" sz="900" dirty="0">
                <a:sym typeface="Wingdings" panose="05000000000000000000" pitchFamily="2" charset="2"/>
              </a:rPr>
              <a:t> </a:t>
            </a:r>
            <a:r>
              <a:rPr lang="de-CH" sz="900" dirty="0" err="1">
                <a:sym typeface="Wingdings" panose="05000000000000000000" pitchFamily="2" charset="2"/>
              </a:rPr>
              <a:t>become</a:t>
            </a:r>
            <a:r>
              <a:rPr lang="de-CH" sz="900" dirty="0">
                <a:sym typeface="Wingdings" panose="05000000000000000000" pitchFamily="2" charset="2"/>
              </a:rPr>
              <a:t> </a:t>
            </a:r>
            <a:r>
              <a:rPr lang="de-CH" sz="900" dirty="0" err="1">
                <a:sym typeface="Wingdings" panose="05000000000000000000" pitchFamily="2" charset="2"/>
              </a:rPr>
              <a:t>much</a:t>
            </a:r>
            <a:r>
              <a:rPr lang="de-CH" sz="900" dirty="0">
                <a:sym typeface="Wingdings" panose="05000000000000000000" pitchFamily="2" charset="2"/>
              </a:rPr>
              <a:t> </a:t>
            </a:r>
            <a:r>
              <a:rPr lang="de-CH" sz="900" dirty="0" err="1">
                <a:sym typeface="Wingdings" panose="05000000000000000000" pitchFamily="2" charset="2"/>
              </a:rPr>
              <a:t>more</a:t>
            </a:r>
            <a:r>
              <a:rPr lang="de-CH" sz="900" dirty="0">
                <a:sym typeface="Wingdings" panose="05000000000000000000" pitchFamily="2" charset="2"/>
              </a:rPr>
              <a:t> intuitive in bw2.5, but </a:t>
            </a:r>
            <a:r>
              <a:rPr lang="de-CH" sz="900" dirty="0" err="1">
                <a:sym typeface="Wingdings" panose="05000000000000000000" pitchFamily="2" charset="2"/>
              </a:rPr>
              <a:t>polyviz</a:t>
            </a:r>
            <a:r>
              <a:rPr lang="de-CH" sz="900" dirty="0">
                <a:sym typeface="Wingdings" panose="05000000000000000000" pitchFamily="2" charset="2"/>
              </a:rPr>
              <a:t> </a:t>
            </a:r>
            <a:r>
              <a:rPr lang="de-CH" sz="900" dirty="0" err="1">
                <a:sym typeface="Wingdings" panose="05000000000000000000" pitchFamily="2" charset="2"/>
              </a:rPr>
              <a:t>is</a:t>
            </a:r>
            <a:r>
              <a:rPr lang="de-CH" sz="900" dirty="0">
                <a:sym typeface="Wingdings" panose="05000000000000000000" pitchFamily="2" charset="2"/>
              </a:rPr>
              <a:t> also </a:t>
            </a:r>
            <a:r>
              <a:rPr lang="de-CH" sz="900" dirty="0" err="1">
                <a:sym typeface="Wingdings" panose="05000000000000000000" pitchFamily="2" charset="2"/>
              </a:rPr>
              <a:t>very</a:t>
            </a:r>
            <a:r>
              <a:rPr lang="de-CH" sz="900" dirty="0">
                <a:sym typeface="Wingdings" panose="05000000000000000000" pitchFamily="2" charset="2"/>
              </a:rPr>
              <a:t> </a:t>
            </a:r>
            <a:r>
              <a:rPr lang="de-CH" sz="900" dirty="0" err="1">
                <a:sym typeface="Wingdings" panose="05000000000000000000" pitchFamily="2" charset="2"/>
              </a:rPr>
              <a:t>helpful</a:t>
            </a:r>
            <a:r>
              <a:rPr lang="de-CH" sz="900">
                <a:sym typeface="Wingdings" panose="05000000000000000000" pitchFamily="2" charset="2"/>
              </a:rPr>
              <a:t>: </a:t>
            </a:r>
            <a:r>
              <a:rPr lang="en-US" sz="70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polyviz.utils</a:t>
            </a:r>
            <a:r>
              <a:rPr lang="en-US" sz="7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calculate_supply_chain</a:t>
            </a:r>
            <a:endParaRPr lang="en-US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>
              <a:buAutoNum type="arabicPeriod"/>
            </a:pP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Use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the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«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acts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» and «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methods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»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list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from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above</a:t>
            </a:r>
            <a:endParaRPr lang="de-CH" sz="900" dirty="0">
              <a:latin typeface="Calibri body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df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pd.DataFrame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</a:t>
            </a:r>
          </a:p>
          <a:p>
            <a:pPr marL="228600" indent="-228600">
              <a:buAutoNum type="arabicPeriod"/>
            </a:pP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for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act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in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acts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for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m in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methods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print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act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m)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    data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calculate_supply_chain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(act, m, 2, 1e-4)[0] </a:t>
            </a:r>
          </a:p>
          <a:p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#choose down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to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which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level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you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want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to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go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, and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the</a:t>
            </a:r>
            <a:r>
              <a:rPr lang="de-CH" sz="900" dirty="0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  <a:sym typeface="Wingdings" panose="05000000000000000000" pitchFamily="2" charset="2"/>
              </a:rPr>
              <a:t>cutoff</a:t>
            </a:r>
            <a:endParaRPr lang="de-CH" sz="900" dirty="0">
              <a:latin typeface="Calibri body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[[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'],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'], '-'.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(m)] + d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d in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  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pd.concat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)],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=0,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ignore_index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df.columns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['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activity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location_activity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lcia_method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level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contribution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 'absolute score', 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amount_in_dataset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activity_contributing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location_contributing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df.to_excel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('contribution.xlsx')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D4A9E9-82D1-6060-352B-230E8E3D9E58}"/>
              </a:ext>
            </a:extLst>
          </p:cNvPr>
          <p:cNvSpPr txBox="1"/>
          <p:nvPr/>
        </p:nvSpPr>
        <p:spPr>
          <a:xfrm>
            <a:off x="7099582" y="276482"/>
            <a:ext cx="2646947" cy="2616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1100" dirty="0" err="1">
                <a:solidFill>
                  <a:schemeClr val="bg1"/>
                </a:solidFill>
              </a:rPr>
              <a:t>Plotting</a:t>
            </a:r>
            <a:r>
              <a:rPr lang="de-CH" sz="1100" dirty="0">
                <a:solidFill>
                  <a:schemeClr val="bg1"/>
                </a:solidFill>
              </a:rPr>
              <a:t> </a:t>
            </a:r>
            <a:r>
              <a:rPr lang="de-CH" sz="1100" dirty="0" err="1">
                <a:solidFill>
                  <a:schemeClr val="bg1"/>
                </a:solidFill>
              </a:rPr>
              <a:t>results</a:t>
            </a:r>
            <a:r>
              <a:rPr lang="de-CH" sz="1100" dirty="0">
                <a:solidFill>
                  <a:schemeClr val="bg1"/>
                </a:solidFill>
              </a:rPr>
              <a:t> </a:t>
            </a:r>
            <a:r>
              <a:rPr lang="de-CH" sz="1000" dirty="0">
                <a:solidFill>
                  <a:schemeClr val="bg1"/>
                </a:solidFill>
              </a:rPr>
              <a:t>– </a:t>
            </a:r>
            <a:r>
              <a:rPr lang="de-CH" sz="1000" dirty="0" err="1">
                <a:solidFill>
                  <a:schemeClr val="bg1"/>
                </a:solidFill>
              </a:rPr>
              <a:t>using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pandas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dataframes</a:t>
            </a:r>
            <a:endParaRPr lang="de-CH" sz="11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1CCC15-C794-FE40-FEF6-F6DFC3043D29}"/>
              </a:ext>
            </a:extLst>
          </p:cNvPr>
          <p:cNvSpPr txBox="1"/>
          <p:nvPr/>
        </p:nvSpPr>
        <p:spPr>
          <a:xfrm>
            <a:off x="6797704" y="538093"/>
            <a:ext cx="294882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de-CH" sz="900" dirty="0">
                <a:latin typeface="Calibri body"/>
                <a:cs typeface="Courier New" panose="02070309020205020404" pitchFamily="49" charset="0"/>
              </a:rPr>
              <a:t>Create a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results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df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as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shown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above</a:t>
            </a:r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2. 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More human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friendly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labels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: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labels_methods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"('EF v3.1', 'climate change', 'global warming potential (GWP100)')": 'CC’ 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nbio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de-CH" sz="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addmoreasyouneed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labels_act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 { "'electricity production, wind, &gt;3MW turbine, onshore' (kilowatt hour, DE, None)": "wind", </a:t>
            </a:r>
            <a:r>
              <a:rPr lang="de-CH" sz="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addmoreasyouneed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(columns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labels_act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index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labels_methods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3. </a:t>
            </a:r>
            <a:r>
              <a:rPr lang="en-US" sz="900" dirty="0">
                <a:solidFill>
                  <a:srgbClr val="000000"/>
                </a:solidFill>
                <a:latin typeface="Calibri body"/>
              </a:rPr>
              <a:t>Plotting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df.plot.bar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xlabel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='Impact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category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='Impact score',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figsize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=(14,8))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plt.xticks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rotation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=0)</a:t>
            </a:r>
          </a:p>
          <a:p>
            <a:r>
              <a:rPr lang="en-US" sz="900" dirty="0">
                <a:latin typeface="Calibri body"/>
                <a:cs typeface="Courier New" panose="02070309020205020404" pitchFamily="49" charset="0"/>
              </a:rPr>
              <a:t>#Normalisation:</a:t>
            </a:r>
          </a:p>
          <a:p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df.abs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().max(axis=1)).T</a:t>
            </a:r>
          </a:p>
          <a:p>
            <a:r>
              <a:rPr lang="en-US" sz="900" b="1" i="1" dirty="0">
                <a:solidFill>
                  <a:srgbClr val="000000"/>
                </a:solidFill>
                <a:latin typeface="Calibri body"/>
                <a:cs typeface="Courier New" panose="02070309020205020404" pitchFamily="49" charset="0"/>
              </a:rPr>
              <a:t>You can also use seaborn, matplotlib, </a:t>
            </a:r>
            <a:r>
              <a:rPr lang="en-US" sz="900" b="1" i="1" dirty="0" err="1">
                <a:solidFill>
                  <a:srgbClr val="000000"/>
                </a:solidFill>
                <a:latin typeface="Calibri body"/>
                <a:cs typeface="Courier New" panose="02070309020205020404" pitchFamily="49" charset="0"/>
              </a:rPr>
              <a:t>plotly</a:t>
            </a:r>
            <a:r>
              <a:rPr lang="en-US" sz="900" b="1" i="1" dirty="0">
                <a:solidFill>
                  <a:srgbClr val="000000"/>
                </a:solidFill>
                <a:latin typeface="Calibri body"/>
                <a:cs typeface="Courier New" panose="02070309020205020404" pitchFamily="49" charset="0"/>
              </a:rPr>
              <a:t> etc.</a:t>
            </a:r>
            <a:endParaRPr lang="de-CH" sz="900" b="1" i="1" dirty="0">
              <a:latin typeface="Calibri body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3BDC9B-5459-E9D2-DC1A-A827639C4E4E}"/>
              </a:ext>
            </a:extLst>
          </p:cNvPr>
          <p:cNvSpPr txBox="1"/>
          <p:nvPr/>
        </p:nvSpPr>
        <p:spPr>
          <a:xfrm>
            <a:off x="6797704" y="274328"/>
            <a:ext cx="301878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32390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3A4F1A-15A7-63D4-759F-BF5B1B1075E0}"/>
              </a:ext>
            </a:extLst>
          </p:cNvPr>
          <p:cNvSpPr txBox="1"/>
          <p:nvPr/>
        </p:nvSpPr>
        <p:spPr>
          <a:xfrm>
            <a:off x="362313" y="236573"/>
            <a:ext cx="301878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B764E-DADF-2356-0C6C-7B20DDB06C1F}"/>
              </a:ext>
            </a:extLst>
          </p:cNvPr>
          <p:cNvSpPr txBox="1"/>
          <p:nvPr/>
        </p:nvSpPr>
        <p:spPr>
          <a:xfrm>
            <a:off x="664191" y="236573"/>
            <a:ext cx="2646947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1000" dirty="0" err="1">
                <a:solidFill>
                  <a:schemeClr val="bg1"/>
                </a:solidFill>
              </a:rPr>
              <a:t>Contribution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analysis</a:t>
            </a:r>
            <a:r>
              <a:rPr lang="de-CH" sz="1000" dirty="0">
                <a:solidFill>
                  <a:schemeClr val="bg1"/>
                </a:solidFill>
              </a:rPr>
              <a:t> (</a:t>
            </a:r>
            <a:r>
              <a:rPr lang="de-CH" sz="1000" dirty="0" err="1">
                <a:solidFill>
                  <a:schemeClr val="bg1"/>
                </a:solidFill>
              </a:rPr>
              <a:t>more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options</a:t>
            </a:r>
            <a:r>
              <a:rPr lang="de-CH" sz="10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FF493-6405-E70F-6BB2-A37AAAD655AE}"/>
              </a:ext>
            </a:extLst>
          </p:cNvPr>
          <p:cNvSpPr txBox="1"/>
          <p:nvPr/>
        </p:nvSpPr>
        <p:spPr>
          <a:xfrm>
            <a:off x="276280" y="438071"/>
            <a:ext cx="3206074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lphaLcParenR"/>
            </a:pPr>
            <a:r>
              <a:rPr lang="de-CH" sz="900" b="1" dirty="0">
                <a:latin typeface="Calibri body"/>
                <a:cs typeface="Courier New" panose="02070309020205020404" pitchFamily="49" charset="0"/>
              </a:rPr>
              <a:t>Quickest </a:t>
            </a:r>
            <a:r>
              <a:rPr lang="de-CH" sz="900" b="1" dirty="0" err="1">
                <a:latin typeface="Calibri body"/>
                <a:cs typeface="Courier New" panose="02070309020205020404" pitchFamily="49" charset="0"/>
              </a:rPr>
              <a:t>look</a:t>
            </a:r>
            <a:r>
              <a:rPr lang="de-CH" sz="900" b="1" dirty="0">
                <a:latin typeface="Calibri body"/>
                <a:cs typeface="Courier New" panose="02070309020205020404" pitchFamily="49" charset="0"/>
              </a:rPr>
              <a:t>: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bw2analyzer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</a:t>
            </a:r>
            <a:endParaRPr lang="de-CH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ba.print_recursive_calculation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max_level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=3,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cutoff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=0.05)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) </a:t>
            </a:r>
            <a:r>
              <a:rPr lang="de-CH" sz="900" b="1" dirty="0" err="1">
                <a:latin typeface="Calibri body"/>
                <a:cs typeface="Courier New" panose="02070309020205020404" pitchFamily="49" charset="0"/>
              </a:rPr>
              <a:t>Ranked</a:t>
            </a:r>
            <a:r>
              <a:rPr lang="de-CH" sz="900" b="1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b="1" dirty="0" err="1">
                <a:latin typeface="Calibri body"/>
                <a:cs typeface="Courier New" panose="02070309020205020404" pitchFamily="49" charset="0"/>
              </a:rPr>
              <a:t>tables</a:t>
            </a:r>
            <a:r>
              <a:rPr lang="de-CH" sz="900" b="1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— top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processes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and top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flows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: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bc.LCA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: 1},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lca.lci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lca.lcia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ba.ContributionAnalysis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ca.annotated_top_processes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=10)   # (score,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supply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activity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ca.annotated_top_emissions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=10)   # (score,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supply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biosphere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flow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) </a:t>
            </a:r>
            <a:r>
              <a:rPr lang="de-CH" sz="900" b="1" dirty="0" err="1">
                <a:latin typeface="Calibri body"/>
                <a:cs typeface="Courier New" panose="02070309020205020404" pitchFamily="49" charset="0"/>
              </a:rPr>
              <a:t>straight</a:t>
            </a:r>
            <a:r>
              <a:rPr lang="de-CH" sz="900" b="1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b="1" dirty="0" err="1">
                <a:latin typeface="Calibri body"/>
                <a:cs typeface="Courier New" panose="02070309020205020404" pitchFamily="49" charset="0"/>
              </a:rPr>
              <a:t>to</a:t>
            </a:r>
            <a:r>
              <a:rPr lang="de-CH" sz="900" b="1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b="1" dirty="0" err="1">
                <a:latin typeface="Calibri body"/>
                <a:cs typeface="Courier New" panose="02070309020205020404" pitchFamily="49" charset="0"/>
              </a:rPr>
              <a:t>pandas</a:t>
            </a:r>
            <a:r>
              <a:rPr lang="de-CH" sz="900" b="1" dirty="0">
                <a:latin typeface="Calibri body"/>
                <a:cs typeface="Courier New" panose="02070309020205020404" pitchFamily="49" charset="0"/>
              </a:rPr>
              <a:t>: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lca.to_dataframe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cutoff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=25)     #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characterized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inventory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tidy</a:t>
            </a:r>
            <a:endParaRPr lang="de-CH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[['row_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','row_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categories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','col_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','col_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','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']]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F36011-8388-5217-2E90-AA510A89F709}"/>
              </a:ext>
            </a:extLst>
          </p:cNvPr>
          <p:cNvSpPr txBox="1"/>
          <p:nvPr/>
        </p:nvSpPr>
        <p:spPr>
          <a:xfrm>
            <a:off x="362313" y="2870949"/>
            <a:ext cx="301878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6D4CDE-FA8B-82D4-692F-47F80011AC83}"/>
              </a:ext>
            </a:extLst>
          </p:cNvPr>
          <p:cNvSpPr txBox="1"/>
          <p:nvPr/>
        </p:nvSpPr>
        <p:spPr>
          <a:xfrm>
            <a:off x="664191" y="2870949"/>
            <a:ext cx="2646947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1000" dirty="0">
                <a:solidFill>
                  <a:schemeClr val="bg1"/>
                </a:solidFill>
              </a:rPr>
              <a:t>Project </a:t>
            </a:r>
            <a:r>
              <a:rPr lang="de-CH" sz="1000" dirty="0" err="1">
                <a:solidFill>
                  <a:schemeClr val="bg1"/>
                </a:solidFill>
              </a:rPr>
              <a:t>management</a:t>
            </a:r>
            <a:r>
              <a:rPr lang="de-CH" sz="1000" dirty="0">
                <a:solidFill>
                  <a:schemeClr val="bg1"/>
                </a:solidFill>
              </a:rPr>
              <a:t>: </a:t>
            </a:r>
            <a:r>
              <a:rPr lang="de-CH" sz="800" dirty="0" err="1">
                <a:solidFill>
                  <a:schemeClr val="bg1"/>
                </a:solidFill>
              </a:rPr>
              <a:t>Reproducibility</a:t>
            </a:r>
            <a:r>
              <a:rPr lang="de-CH" sz="800" dirty="0">
                <a:solidFill>
                  <a:schemeClr val="bg1"/>
                </a:solidFill>
              </a:rPr>
              <a:t> &amp; </a:t>
            </a:r>
            <a:r>
              <a:rPr lang="de-CH" sz="800" dirty="0" err="1">
                <a:solidFill>
                  <a:schemeClr val="bg1"/>
                </a:solidFill>
              </a:rPr>
              <a:t>collaboration</a:t>
            </a:r>
            <a:endParaRPr lang="de-CH" sz="1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0815F1-D4BE-84F5-219E-0427FDBABCA8}"/>
              </a:ext>
            </a:extLst>
          </p:cNvPr>
          <p:cNvSpPr txBox="1"/>
          <p:nvPr/>
        </p:nvSpPr>
        <p:spPr>
          <a:xfrm>
            <a:off x="362314" y="3142241"/>
            <a:ext cx="293200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E.g.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when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you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want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to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freeze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the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status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of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a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project</a:t>
            </a:r>
            <a:r>
              <a:rPr lang="de-CH" sz="800" dirty="0">
                <a:latin typeface="Calibri body"/>
                <a:cs typeface="Courier New" panose="02070309020205020404" pitchFamily="49" charset="0"/>
              </a:rPr>
              <a:t> (e.g. after </a:t>
            </a:r>
            <a:r>
              <a:rPr lang="de-CH" sz="800" dirty="0" err="1">
                <a:latin typeface="Calibri body"/>
                <a:cs typeface="Courier New" panose="02070309020205020404" pitchFamily="49" charset="0"/>
              </a:rPr>
              <a:t>manuscript</a:t>
            </a:r>
            <a:r>
              <a:rPr lang="de-CH" sz="8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800" dirty="0" err="1">
                <a:latin typeface="Calibri body"/>
                <a:cs typeface="Courier New" panose="02070309020205020404" pitchFamily="49" charset="0"/>
              </a:rPr>
              <a:t>submission</a:t>
            </a:r>
            <a:r>
              <a:rPr lang="de-CH" sz="800" dirty="0">
                <a:latin typeface="Calibri body"/>
                <a:cs typeface="Courier New" panose="02070309020205020404" pitchFamily="49" charset="0"/>
              </a:rPr>
              <a:t>)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;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or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when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you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want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to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collaborate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: Share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env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and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project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with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all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databases</a:t>
            </a:r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endParaRPr lang="de-CH" sz="900" b="1" i="1" dirty="0">
              <a:latin typeface="Calibri body"/>
              <a:cs typeface="Courier New" panose="02070309020205020404" pitchFamily="49" charset="0"/>
            </a:endParaRPr>
          </a:p>
          <a:p>
            <a:r>
              <a:rPr lang="de-CH" sz="900" b="1" i="1" dirty="0">
                <a:latin typeface="Calibri body"/>
                <a:cs typeface="Courier New" panose="02070309020205020404" pitchFamily="49" charset="0"/>
              </a:rPr>
              <a:t>Saving your env: 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conda env export -n envname &gt; C:\yourpath\envname_20240401.yml</a:t>
            </a:r>
          </a:p>
          <a:p>
            <a:r>
              <a:rPr lang="de-CH" sz="900" b="1" i="1" dirty="0">
                <a:latin typeface="Calibri body"/>
                <a:cs typeface="Courier New" panose="02070309020205020404" pitchFamily="49" charset="0"/>
              </a:rPr>
              <a:t>Recreating the env: 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conda env create -f C:\yourpath\envname_20240401.yml</a:t>
            </a:r>
          </a:p>
          <a:p>
            <a:r>
              <a:rPr lang="de-CH" sz="900" b="1" i="1" dirty="0">
                <a:latin typeface="Calibri body"/>
                <a:cs typeface="Courier New" panose="02070309020205020404" pitchFamily="49" charset="0"/>
              </a:rPr>
              <a:t>Backup </a:t>
            </a:r>
            <a:r>
              <a:rPr lang="de-CH" sz="900" b="1" i="1" dirty="0" err="1">
                <a:latin typeface="Calibri body"/>
                <a:cs typeface="Courier New" panose="02070309020205020404" pitchFamily="49" charset="0"/>
              </a:rPr>
              <a:t>existing</a:t>
            </a:r>
            <a:r>
              <a:rPr lang="de-CH" sz="900" b="1" i="1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b="1" i="1" dirty="0" err="1">
                <a:latin typeface="Calibri body"/>
                <a:cs typeface="Courier New" panose="02070309020205020404" pitchFamily="49" charset="0"/>
              </a:rPr>
              <a:t>project</a:t>
            </a:r>
            <a:r>
              <a:rPr lang="de-CH" sz="900" b="1" i="1" dirty="0">
                <a:latin typeface="Calibri body"/>
                <a:cs typeface="Courier New" panose="02070309020205020404" pitchFamily="49" charset="0"/>
              </a:rPr>
              <a:t>: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bi.backup.backup_project_directory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project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=‘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yourname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’) 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(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saved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in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your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C:\Users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folder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)</a:t>
            </a:r>
          </a:p>
          <a:p>
            <a:r>
              <a:rPr lang="de-CH" sz="900" b="1" i="1" dirty="0">
                <a:latin typeface="Calibri body"/>
                <a:cs typeface="Courier New" panose="02070309020205020404" pitchFamily="49" charset="0"/>
              </a:rPr>
              <a:t>Restore </a:t>
            </a:r>
            <a:r>
              <a:rPr lang="de-CH" sz="900" b="1" i="1" dirty="0" err="1">
                <a:latin typeface="Calibri body"/>
                <a:cs typeface="Courier New" panose="02070309020205020404" pitchFamily="49" charset="0"/>
              </a:rPr>
              <a:t>project</a:t>
            </a:r>
            <a:r>
              <a:rPr lang="de-CH" sz="900" b="1" i="1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b="1" i="1" dirty="0" err="1">
                <a:latin typeface="Calibri body"/>
                <a:cs typeface="Courier New" panose="02070309020205020404" pitchFamily="49" charset="0"/>
              </a:rPr>
              <a:t>from</a:t>
            </a:r>
            <a:r>
              <a:rPr lang="de-CH" sz="900" b="1" i="1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b="1" i="1" dirty="0" err="1">
                <a:latin typeface="Calibri body"/>
                <a:cs typeface="Courier New" panose="02070309020205020404" pitchFamily="49" charset="0"/>
              </a:rPr>
              <a:t>backup</a:t>
            </a:r>
            <a:r>
              <a:rPr lang="de-CH" sz="900" b="1" i="1" dirty="0">
                <a:latin typeface="Calibri body"/>
                <a:cs typeface="Courier New" panose="02070309020205020404" pitchFamily="49" charset="0"/>
              </a:rPr>
              <a:t>: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bi.backup.restore_project_directory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yourpath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project_name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‘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yourprojectname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BD8A8F-3E63-07F9-1F06-4E41D197D1D8}"/>
              </a:ext>
            </a:extLst>
          </p:cNvPr>
          <p:cNvSpPr txBox="1"/>
          <p:nvPr/>
        </p:nvSpPr>
        <p:spPr>
          <a:xfrm>
            <a:off x="3486365" y="479707"/>
            <a:ext cx="4037382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bw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eats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space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fast, in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this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order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:</a:t>
            </a: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1.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Brightway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projects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  C:\Users\&lt;you&gt;\AppData\Local\pylca\Brightway3</a:t>
            </a: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2.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conda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envs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+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pkgs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   ...\miniforge3\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envs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 and  ...\miniforge3\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pkgs</a:t>
            </a:r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3.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ecoinvent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downloads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 ...\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AppData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\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Local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\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pylca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\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EcoinventInterface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\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cache</a:t>
            </a:r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4.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project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backups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(.tar.gz)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wherever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you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wrote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them</a:t>
            </a:r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Clean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up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:</a:t>
            </a: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1. In a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jupyter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notebook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: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bd.projects.delete_project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(‘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projectname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delete_dir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r>
              <a:rPr lang="de-CH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bd.projects.purge_deleted_directories</a:t>
            </a:r>
            <a:r>
              <a:rPr lang="de-CH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  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#orphan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dirs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of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deleted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projects</a:t>
            </a:r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2. In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your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conda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prompt: </a:t>
            </a:r>
          </a:p>
          <a:p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conda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env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list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                   #which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envs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exist</a:t>
            </a:r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conda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clean --all --dry-run       #how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much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conda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could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free</a:t>
            </a:r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conda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clean --all                 # safe: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never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breaks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an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existing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env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-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only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drops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caches</a:t>
            </a:r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conda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env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remove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-n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oldenv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       </a:t>
            </a: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3.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ecoinvent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cache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: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delete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whole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version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folders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you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no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longer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import</a:t>
            </a:r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Rules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of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thumb</a:t>
            </a:r>
            <a:endParaRPr lang="de-CH" sz="900" dirty="0">
              <a:latin typeface="Calibri body"/>
              <a:cs typeface="Courier New" panose="02070309020205020404" pitchFamily="49" charset="0"/>
            </a:endParaRP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-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One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env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per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course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/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project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,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delete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when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done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. Export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first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:</a:t>
            </a: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 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conda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env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export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-n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bw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&gt; bw_2026.yml</a:t>
            </a:r>
          </a:p>
          <a:p>
            <a:r>
              <a:rPr lang="de-CH" sz="900" dirty="0">
                <a:latin typeface="Calibri body"/>
                <a:cs typeface="Courier New" panose="02070309020205020404" pitchFamily="49" charset="0"/>
              </a:rPr>
              <a:t>- Back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up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(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bi.backup_project_directory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)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then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delete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,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don't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keep</a:t>
            </a:r>
            <a:r>
              <a:rPr lang="de-CH" sz="900" dirty="0">
                <a:latin typeface="Calibri body"/>
                <a:cs typeface="Courier New" panose="02070309020205020404" pitchFamily="49" charset="0"/>
              </a:rPr>
              <a:t> </a:t>
            </a:r>
            <a:r>
              <a:rPr lang="de-CH" sz="900" dirty="0" err="1">
                <a:latin typeface="Calibri body"/>
                <a:cs typeface="Courier New" panose="02070309020205020404" pitchFamily="49" charset="0"/>
              </a:rPr>
              <a:t>both</a:t>
            </a:r>
            <a:endParaRPr lang="de-CH" sz="900" dirty="0">
              <a:latin typeface="Calibri body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5B8D49-3C4F-65D4-9020-DAE5D8C0D00F}"/>
              </a:ext>
            </a:extLst>
          </p:cNvPr>
          <p:cNvSpPr txBox="1"/>
          <p:nvPr/>
        </p:nvSpPr>
        <p:spPr>
          <a:xfrm>
            <a:off x="3568387" y="233486"/>
            <a:ext cx="301878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de-CH" sz="1000" dirty="0"/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EA8E86-2ACB-506C-B5DB-157D521D731F}"/>
              </a:ext>
            </a:extLst>
          </p:cNvPr>
          <p:cNvSpPr txBox="1"/>
          <p:nvPr/>
        </p:nvSpPr>
        <p:spPr>
          <a:xfrm>
            <a:off x="3870265" y="233486"/>
            <a:ext cx="3156177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de-CH" sz="1000" dirty="0">
                <a:solidFill>
                  <a:schemeClr val="bg1"/>
                </a:solidFill>
              </a:rPr>
              <a:t>Storage </a:t>
            </a:r>
            <a:r>
              <a:rPr lang="de-CH" sz="1000" dirty="0" err="1">
                <a:solidFill>
                  <a:schemeClr val="bg1"/>
                </a:solidFill>
              </a:rPr>
              <a:t>space</a:t>
            </a:r>
            <a:r>
              <a:rPr lang="de-CH" sz="1000" dirty="0">
                <a:solidFill>
                  <a:schemeClr val="bg1"/>
                </a:solidFill>
              </a:rPr>
              <a:t> on </a:t>
            </a:r>
            <a:r>
              <a:rPr lang="de-CH" sz="1000" dirty="0" err="1">
                <a:solidFill>
                  <a:schemeClr val="bg1"/>
                </a:solidFill>
              </a:rPr>
              <a:t>disk</a:t>
            </a:r>
            <a:r>
              <a:rPr lang="de-CH" sz="1000" dirty="0">
                <a:solidFill>
                  <a:schemeClr val="bg1"/>
                </a:solidFill>
              </a:rPr>
              <a:t> </a:t>
            </a:r>
            <a:r>
              <a:rPr lang="de-CH" sz="1000" dirty="0" err="1">
                <a:solidFill>
                  <a:schemeClr val="bg1"/>
                </a:solidFill>
              </a:rPr>
              <a:t>hygiene</a:t>
            </a:r>
            <a:endParaRPr lang="de-CH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051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2859</Words>
  <Application>Microsoft Office PowerPoint</Application>
  <PresentationFormat>A4 Paper (210x297 mm)</PresentationFormat>
  <Paragraphs>239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body</vt:lpstr>
      <vt:lpstr>Calibri Light</vt:lpstr>
      <vt:lpstr>Consolas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>Paul Scherrer Institut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Treyer Karin</dc:creator>
  <cp:lastModifiedBy>Treyer, Karin</cp:lastModifiedBy>
  <cp:revision>106</cp:revision>
  <cp:lastPrinted>2024-05-14T20:37:47Z</cp:lastPrinted>
  <dcterms:created xsi:type="dcterms:W3CDTF">2024-03-19T14:24:45Z</dcterms:created>
  <dcterms:modified xsi:type="dcterms:W3CDTF">2026-09-18T15:32:08Z</dcterms:modified>
</cp:coreProperties>
</file>